
<file path=[Content_Types].xml><?xml version="1.0" encoding="utf-8"?>
<Types xmlns="http://schemas.openxmlformats.org/package/2006/content-types">
  <Default Extension="xml" ContentType="application/vnd.openxmlformats-officedocument.extended-properties+xml"/>
  <Default Extension="png" ContentType="image/png"/>
  <Default Extension="fntdata" ContentType="application/x-fontdata"/>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7.xml" ContentType="application/vnd.openxmlformats-officedocument.presentationml.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presProps.xml" ContentType="application/vnd.openxmlformats-officedocument.presentationml.presProps+xml"/>
  <Override PartName="/ppt/slides/slide2.xml" ContentType="application/vnd.openxmlformats-officedocument.presentationml.slide+xml"/>
  <Override PartName="/ppt/notesSlides/notesSlide2.xml" ContentType="application/vnd.openxmlformats-officedocument.presentationml.notesSlide+xml"/>
  <Override PartName="/ppt/tableStyles.xml" ContentType="application/vnd.openxmlformats-officedocument.presentationml.tableStyles+xml"/>
  <Override PartName="/ppt/slides/slide6.xml" ContentType="application/vnd.openxmlformats-officedocument.presentationml.slide+xml"/>
  <Override PartName="/ppt/notesSlides/notesSlide6.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viewProps.xml" ContentType="application/vnd.openxmlformats-officedocument.presentationml.viewProps+xml"/>
  <Override PartName="/ppt/slides/slide3.xml" ContentType="application/vnd.openxmlformats-officedocument.presentationml.slide+xml"/>
  <Override PartName="/ppt/notesSlides/notesSlide3.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Lora" pitchFamily="2" charset="77"/>
      <p:regular r:id="rId13"/>
    </p:embeddedFont>
    <p:embeddedFont>
      <p:font typeface="Source Sans Pro" panose="020B0503030403020204"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5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p:scale>
          <a:sx n="79" d="100"/>
          <a:sy n="79" d="100"/>
        </p:scale>
        <p:origin x="1280" y="736"/>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font" Target="/ppt/fonts/font1.fntdata" Id="rId13" /><Relationship Type="http://schemas.openxmlformats.org/officeDocument/2006/relationships/presProps" Target="/ppt/presProps.xml" Id="rId18" /><Relationship Type="http://schemas.openxmlformats.org/officeDocument/2006/relationships/slide" Target="/ppt/slides/slide2.xml" Id="rId3" /><Relationship Type="http://schemas.openxmlformats.org/officeDocument/2006/relationships/tableStyles" Target="/ppt/tableStyles.xml" Id="rId21" /><Relationship Type="http://schemas.openxmlformats.org/officeDocument/2006/relationships/slide" Target="/ppt/slides/slide6.xml" Id="rId7" /><Relationship Type="http://schemas.openxmlformats.org/officeDocument/2006/relationships/notesMaster" Target="/ppt/notesMasters/notesMaster1.xml" Id="rId12" /><Relationship Type="http://schemas.openxmlformats.org/officeDocument/2006/relationships/font" Target="/ppt/fonts/font5.fntdata" Id="rId17" /><Relationship Type="http://schemas.openxmlformats.org/officeDocument/2006/relationships/slide" Target="/ppt/slides/slide1.xml" Id="rId2" /><Relationship Type="http://schemas.openxmlformats.org/officeDocument/2006/relationships/font" Target="/ppt/fonts/font4.fntdata" Id="rId16" /><Relationship Type="http://schemas.openxmlformats.org/officeDocument/2006/relationships/theme" Target="/ppt/theme/theme1.xml" Id="rId20"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slide" Target="/ppt/slides/slide4.xml" Id="rId5" /><Relationship Type="http://schemas.openxmlformats.org/officeDocument/2006/relationships/font" Target="/ppt/fonts/font3.fntdata" Id="rId15" /><Relationship Type="http://schemas.openxmlformats.org/officeDocument/2006/relationships/slide" Target="/ppt/slides/slide9.xml" Id="rId10" /><Relationship Type="http://schemas.openxmlformats.org/officeDocument/2006/relationships/viewProps" Target="/ppt/viewProps.xml" Id="rId19"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font" Target="/ppt/fonts/font2.fntdata" Id="rId14"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7882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1.xml" Id="rId2" /><Relationship Type="http://schemas.openxmlformats.org/officeDocument/2006/relationships/notesMaster" Target="/ppt/notesMasters/notesMaster1.xml" Id="rI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Id2" /><Relationship Type="http://schemas.openxmlformats.org/officeDocument/2006/relationships/notesMaster" Target="/ppt/notesMasters/notesMaster1.xml" Id="rI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Id2" /><Relationship Type="http://schemas.openxmlformats.org/officeDocument/2006/relationships/notesMaster" Target="/ppt/notesMasters/notesMaster1.xml" Id="rI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Id2" /><Relationship Type="http://schemas.openxmlformats.org/officeDocument/2006/relationships/notesMaster" Target="/ppt/notesMasters/notesMaster1.xml" Id="rI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Id2" /><Relationship Type="http://schemas.openxmlformats.org/officeDocument/2006/relationships/notesMaster" Target="/ppt/notesMasters/notesMaster1.xml" Id="rI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Id2" /><Relationship Type="http://schemas.openxmlformats.org/officeDocument/2006/relationships/notesMaster" Target="/ppt/notesMasters/notesMaster1.xml" Id="rI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Id2" /><Relationship Type="http://schemas.openxmlformats.org/officeDocument/2006/relationships/notesMaster" Target="/ppt/notesMasters/notesMaster1.xml" Id="rI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Id2" /><Relationship Type="http://schemas.openxmlformats.org/officeDocument/2006/relationships/notesMaster" Target="/ppt/notesMasters/notesMaster1.xml" Id="rI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3.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4.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5.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6.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7.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8.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9.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0.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1.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8.xml" Id="rId8" /><Relationship Type="http://schemas.openxmlformats.org/officeDocument/2006/relationships/slideLayout" Target="/ppt/slideLayouts/slideLayout3.xml" Id="rId3" /><Relationship Type="http://schemas.openxmlformats.org/officeDocument/2006/relationships/slideLayout" Target="/ppt/slideLayouts/slideLayout7.xml" Id="rId7" /><Relationship Type="http://schemas.openxmlformats.org/officeDocument/2006/relationships/theme" Target="/ppt/theme/theme1.xml" Id="rId12" /><Relationship Type="http://schemas.openxmlformats.org/officeDocument/2006/relationships/slideLayout" Target="/ppt/slideLayouts/slideLayout2.xml" Id="rId2" /><Relationship Type="http://schemas.openxmlformats.org/officeDocument/2006/relationships/slideLayout" Target="/ppt/slideLayouts/slideLayout6.xml" Id="rId6" /><Relationship Type="http://schemas.openxmlformats.org/officeDocument/2006/relationships/slideLayout" Target="/ppt/slideLayouts/slideLayout11.xml" Id="rId11" /><Relationship Type="http://schemas.openxmlformats.org/officeDocument/2006/relationships/slideLayout" Target="/ppt/slideLayouts/slideLayout5.xml" Id="rId5" /><Relationship Type="http://schemas.openxmlformats.org/officeDocument/2006/relationships/slideLayout" Target="/ppt/slideLayouts/slideLayout10.xml" Id="rId10" /><Relationship Type="http://schemas.openxmlformats.org/officeDocument/2006/relationships/slideLayout" Target="/ppt/slideLayouts/slideLayout4.xml" Id="rId4" /><Relationship Type="http://schemas.openxmlformats.org/officeDocument/2006/relationships/slideLayout" Target="/ppt/slideLayouts/slideLayout9.xml" Id="rId9"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notesSlide" Target="/ppt/notesSlides/notesSlide1.xml" Id="rId2" /><Relationship Type="http://schemas.openxmlformats.org/officeDocument/2006/relationships/slideLayout" Target="/ppt/slideLayouts/slideLayout2.xml" Id="rId1" /><Relationship Type="http://schemas.openxmlformats.org/officeDocument/2006/relationships/image" Target="/ppt/media/image3.png" Id="rId4" /></Relationships>
</file>

<file path=ppt/slides/_rels/slide2.xml.rels>&#65279;<?xml version="1.0" encoding="utf-8"?><Relationships xmlns="http://schemas.openxmlformats.org/package/2006/relationships"><Relationship Type="http://schemas.openxmlformats.org/officeDocument/2006/relationships/notesSlide" Target="/ppt/notesSlides/notesSlide2.xml" Id="rId2" /><Relationship Type="http://schemas.openxmlformats.org/officeDocument/2006/relationships/slideLayout" Target="/ppt/slideLayouts/slideLayout3.xml" Id="rId1" /></Relationships>
</file>

<file path=ppt/slides/_rels/slide3.xml.rels>&#65279;<?xml version="1.0" encoding="utf-8"?><Relationships xmlns="http://schemas.openxmlformats.org/package/2006/relationships"><Relationship Type="http://schemas.openxmlformats.org/officeDocument/2006/relationships/image" Target="/ppt/media/image4.png" Id="rId3" /><Relationship Type="http://schemas.openxmlformats.org/officeDocument/2006/relationships/notesSlide" Target="/ppt/notesSlides/notesSlide3.xml" Id="rId2" /><Relationship Type="http://schemas.openxmlformats.org/officeDocument/2006/relationships/slideLayout" Target="/ppt/slideLayouts/slideLayout4.xml" Id="rId1" /></Relationships>
</file>

<file path=ppt/slides/_rels/slide4.xml.rels>&#65279;<?xml version="1.0" encoding="utf-8"?><Relationships xmlns="http://schemas.openxmlformats.org/package/2006/relationships"><Relationship Type="http://schemas.openxmlformats.org/officeDocument/2006/relationships/image" Target="/ppt/media/image5.png" Id="rId3" /><Relationship Type="http://schemas.openxmlformats.org/officeDocument/2006/relationships/notesSlide" Target="/ppt/notesSlides/notesSlide4.xml" Id="rId2" /><Relationship Type="http://schemas.openxmlformats.org/officeDocument/2006/relationships/slideLayout" Target="/ppt/slideLayouts/slideLayout5.xml" Id="rId1" /></Relationships>
</file>

<file path=ppt/slides/_rels/slide5.xml.rels>&#65279;<?xml version="1.0" encoding="utf-8"?><Relationships xmlns="http://schemas.openxmlformats.org/package/2006/relationships"><Relationship Type="http://schemas.openxmlformats.org/officeDocument/2006/relationships/image" Target="/ppt/media/image6.png" Id="rId3" /><Relationship Type="http://schemas.openxmlformats.org/officeDocument/2006/relationships/notesSlide" Target="/ppt/notesSlides/notesSlide5.xml" Id="rId2" /><Relationship Type="http://schemas.openxmlformats.org/officeDocument/2006/relationships/slideLayout" Target="/ppt/slideLayouts/slideLayout6.xml" Id="rId1" /><Relationship Type="http://schemas.openxmlformats.org/officeDocument/2006/relationships/image" Target="/ppt/media/image8.png" Id="rId5" /><Relationship Type="http://schemas.openxmlformats.org/officeDocument/2006/relationships/image" Target="/ppt/media/image7.png" Id="rId4" /></Relationships>
</file>

<file path=ppt/slides/_rels/slide6.xml.rels>&#65279;<?xml version="1.0" encoding="utf-8"?><Relationships xmlns="http://schemas.openxmlformats.org/package/2006/relationships"><Relationship Type="http://schemas.openxmlformats.org/officeDocument/2006/relationships/image" Target="/ppt/media/image9.png" Id="rId3" /><Relationship Type="http://schemas.openxmlformats.org/officeDocument/2006/relationships/notesSlide" Target="/ppt/notesSlides/notesSlide6.xml" Id="rId2" /><Relationship Type="http://schemas.openxmlformats.org/officeDocument/2006/relationships/slideLayout" Target="/ppt/slideLayouts/slideLayout7.xml" Id="rId1" /><Relationship Type="http://schemas.openxmlformats.org/officeDocument/2006/relationships/image" Target="/ppt/media/image12.png" Id="rId6" /><Relationship Type="http://schemas.openxmlformats.org/officeDocument/2006/relationships/image" Target="/ppt/media/image11.png" Id="rId5" /><Relationship Type="http://schemas.openxmlformats.org/officeDocument/2006/relationships/image" Target="/ppt/media/image10.png" Id="rId4" /></Relationships>
</file>

<file path=ppt/slides/_rels/slide7.xml.rels>&#65279;<?xml version="1.0" encoding="utf-8"?><Relationships xmlns="http://schemas.openxmlformats.org/package/2006/relationships"><Relationship Type="http://schemas.openxmlformats.org/officeDocument/2006/relationships/image" Target="/ppt/media/image13.png" Id="rId3" /><Relationship Type="http://schemas.openxmlformats.org/officeDocument/2006/relationships/notesSlide" Target="/ppt/notesSlides/notesSlide7.xml" Id="rId2" /><Relationship Type="http://schemas.openxmlformats.org/officeDocument/2006/relationships/slideLayout" Target="/ppt/slideLayouts/slideLayout8.xml" Id="rId1" /></Relationships>
</file>

<file path=ppt/slides/_rels/slide8.xml.rels>&#65279;<?xml version="1.0" encoding="utf-8"?><Relationships xmlns="http://schemas.openxmlformats.org/package/2006/relationships"><Relationship Type="http://schemas.openxmlformats.org/officeDocument/2006/relationships/image" Target="/ppt/media/image14.png" Id="rId3" /><Relationship Type="http://schemas.openxmlformats.org/officeDocument/2006/relationships/notesSlide" Target="/ppt/notesSlides/notesSlide8.xml" Id="rId2" /><Relationship Type="http://schemas.openxmlformats.org/officeDocument/2006/relationships/slideLayout" Target="/ppt/slideLayouts/slideLayout9.xml" Id="rId1" /></Relationships>
</file>

<file path=ppt/slides/_rels/slide9.xml.rels>&#65279;<?xml version="1.0" encoding="utf-8"?><Relationships xmlns="http://schemas.openxmlformats.org/package/2006/relationships"><Relationship Type="http://schemas.openxmlformats.org/officeDocument/2006/relationships/notesSlide" Target="/ppt/notesSlides/notesSlide9.xml" Id="rId2" /><Relationship Type="http://schemas.openxmlformats.org/officeDocument/2006/relationships/slideLayout" Target="/ppt/slideLayouts/slideLayout10.xml" Id="rId1" /></Relationships>
</file>

<file path=ppt/slides/_rels/slide10.xml.rels>&#65279;<?xml version="1.0" encoding="utf-8"?><Relationships xmlns="http://schemas.openxmlformats.org/package/2006/relationships"><Relationship Type="http://schemas.openxmlformats.org/officeDocument/2006/relationships/image" Target="/ppt/media/image15.png" Id="rId3" /><Relationship Type="http://schemas.openxmlformats.org/officeDocument/2006/relationships/notesSlide" Target="/ppt/notesSlides/notesSlide10.xml" Id="rId2" /><Relationship Type="http://schemas.openxmlformats.org/officeDocument/2006/relationships/slideLayout" Target="/ppt/slideLayouts/slideLayout11.xml" Id="rId1"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034177"/>
            <a:ext cx="7468553" cy="2816066"/>
          </a:xfrm>
          <a:prstGeom prst="rect">
            <a:avLst/>
          </a:prstGeom>
          <a:noFill/>
          <a:ln/>
        </p:spPr>
        <p:txBody>
          <a:bodyPr wrap="squar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DATA SCIENCE TOOLBOX: PYTHON PROGRAMMING - COVID-19 Analysis by ZIP Code</a:t>
            </a:r>
            <a:endParaRPr lang="en-US" sz="4400" dirty="0"/>
          </a:p>
        </p:txBody>
      </p:sp>
      <p:sp>
        <p:nvSpPr>
          <p:cNvPr id="4" name="Text 1"/>
          <p:cNvSpPr/>
          <p:nvPr/>
        </p:nvSpPr>
        <p:spPr>
          <a:xfrm>
            <a:off x="837724" y="4209217"/>
            <a:ext cx="7468553" cy="2298144"/>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This project analyzes a COVID-19 dataset containing weekly cases, deaths, tests, and case rates across ZIP codes. The aim is to uncover temporal trends, regional severity, correlations, and anomalies using Python tools like Pandas, NumPy, Matplotlib, and Seaborn. The analysis is structured into six objectives, providing actionable findings for public health stakeholders.</a:t>
            </a:r>
            <a:endParaRPr lang="en-US" sz="1850" dirty="0"/>
          </a:p>
        </p:txBody>
      </p:sp>
      <p:sp>
        <p:nvSpPr>
          <p:cNvPr id="5" name="Shape 2"/>
          <p:cNvSpPr/>
          <p:nvPr/>
        </p:nvSpPr>
        <p:spPr>
          <a:xfrm>
            <a:off x="837724" y="6794421"/>
            <a:ext cx="382905" cy="382905"/>
          </a:xfrm>
          <a:prstGeom prst="roundRect">
            <a:avLst>
              <a:gd name="adj" fmla="val 23878209"/>
            </a:avLst>
          </a:prstGeom>
          <a:noFill/>
          <a:ln w="7620">
            <a:solidFill>
              <a:srgbClr val="FFFFFF"/>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845344" y="6802041"/>
            <a:ext cx="367665" cy="367665"/>
          </a:xfrm>
          <a:prstGeom prst="rect">
            <a:avLst/>
          </a:prstGeom>
        </p:spPr>
      </p:pic>
      <p:sp>
        <p:nvSpPr>
          <p:cNvPr id="7" name="Text 3"/>
          <p:cNvSpPr/>
          <p:nvPr/>
        </p:nvSpPr>
        <p:spPr>
          <a:xfrm>
            <a:off x="1340287" y="6776561"/>
            <a:ext cx="2210872" cy="418862"/>
          </a:xfrm>
          <a:prstGeom prst="rect">
            <a:avLst/>
          </a:prstGeom>
          <a:noFill/>
          <a:ln/>
        </p:spPr>
        <p:txBody>
          <a:bodyPr wrap="none" lIns="0" tIns="0" rIns="0" bIns="0" rtlCol="0" anchor="t"/>
          <a:lstStyle/>
          <a:p>
            <a:pPr marL="0" indent="0" algn="l">
              <a:lnSpc>
                <a:spcPts val="3250"/>
              </a:lnSpc>
              <a:buNone/>
            </a:pPr>
            <a:r>
              <a:rPr lang="en-US" sz="2350" b="1" dirty="0">
                <a:solidFill>
                  <a:srgbClr val="3A3630"/>
                </a:solidFill>
                <a:latin typeface="Source Sans Pro Bold" pitchFamily="34" charset="0"/>
                <a:ea typeface="Source Sans Pro Bold" pitchFamily="34" charset="-122"/>
                <a:cs typeface="Source Sans Pro Bold" pitchFamily="34" charset="-120"/>
              </a:rPr>
              <a:t>by Samarth Garg</a:t>
            </a:r>
            <a:endParaRPr lang="en-US" sz="2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2102763"/>
            <a:ext cx="11293793" cy="704017"/>
          </a:xfrm>
          <a:prstGeom prst="rect">
            <a:avLst/>
          </a:prstGeom>
          <a:noFill/>
          <a:ln/>
        </p:spPr>
        <p:txBody>
          <a:bodyPr wrap="non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Data Cleaning and Handling Missing Values</a:t>
            </a:r>
            <a:endParaRPr lang="en-US" sz="4400" dirty="0"/>
          </a:p>
        </p:txBody>
      </p:sp>
      <p:sp>
        <p:nvSpPr>
          <p:cNvPr id="3" name="Text 1"/>
          <p:cNvSpPr/>
          <p:nvPr/>
        </p:nvSpPr>
        <p:spPr>
          <a:xfrm>
            <a:off x="837724" y="340506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8512F"/>
                </a:solidFill>
                <a:latin typeface="Lora" pitchFamily="34" charset="0"/>
                <a:ea typeface="Lora" pitchFamily="34" charset="-122"/>
                <a:cs typeface="Lora" pitchFamily="34" charset="-120"/>
              </a:rPr>
              <a:t>Data Quality</a:t>
            </a:r>
            <a:endParaRPr lang="en-US" sz="2200" dirty="0"/>
          </a:p>
        </p:txBody>
      </p:sp>
      <p:sp>
        <p:nvSpPr>
          <p:cNvPr id="4" name="Text 2"/>
          <p:cNvSpPr/>
          <p:nvPr/>
        </p:nvSpPr>
        <p:spPr>
          <a:xfrm>
            <a:off x="837724" y="3996333"/>
            <a:ext cx="6185535" cy="1915120"/>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Ensuring data quality by addressing duplicates, missing values, and incorrect data types is foundational for reliable analysis. The dataset was processed to remove duplicate rows and impute missing values in numeric columns using medians to maintain central tendency.</a:t>
            </a:r>
            <a:endParaRPr lang="en-US" sz="1850" dirty="0"/>
          </a:p>
        </p:txBody>
      </p:sp>
      <p:sp>
        <p:nvSpPr>
          <p:cNvPr id="5" name="Text 3"/>
          <p:cNvSpPr/>
          <p:nvPr/>
        </p:nvSpPr>
        <p:spPr>
          <a:xfrm>
            <a:off x="7614761" y="340506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8512F"/>
                </a:solidFill>
                <a:latin typeface="Lora" pitchFamily="34" charset="0"/>
                <a:ea typeface="Lora" pitchFamily="34" charset="-122"/>
                <a:cs typeface="Lora" pitchFamily="34" charset="-120"/>
              </a:rPr>
              <a:t>Specific Functions</a:t>
            </a:r>
            <a:endParaRPr lang="en-US" sz="2200" dirty="0"/>
          </a:p>
        </p:txBody>
      </p:sp>
      <p:sp>
        <p:nvSpPr>
          <p:cNvPr id="6" name="Text 4"/>
          <p:cNvSpPr/>
          <p:nvPr/>
        </p:nvSpPr>
        <p:spPr>
          <a:xfrm>
            <a:off x="7614761" y="3996333"/>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3A3630"/>
                </a:solidFill>
                <a:latin typeface="Source Sans Pro" pitchFamily="34" charset="0"/>
                <a:ea typeface="Source Sans Pro" pitchFamily="34" charset="-122"/>
                <a:cs typeface="Source Sans Pro" pitchFamily="34" charset="-120"/>
              </a:rPr>
              <a:t>df.drop_duplicates(): Removes duplicate rows.</a:t>
            </a:r>
            <a:endParaRPr lang="en-US" sz="1850" dirty="0"/>
          </a:p>
        </p:txBody>
      </p:sp>
      <p:sp>
        <p:nvSpPr>
          <p:cNvPr id="7" name="Text 5"/>
          <p:cNvSpPr/>
          <p:nvPr/>
        </p:nvSpPr>
        <p:spPr>
          <a:xfrm>
            <a:off x="7614761" y="4463058"/>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3A3630"/>
                </a:solidFill>
                <a:latin typeface="Source Sans Pro" pitchFamily="34" charset="0"/>
                <a:ea typeface="Source Sans Pro" pitchFamily="34" charset="-122"/>
                <a:cs typeface="Source Sans Pro" pitchFamily="34" charset="-120"/>
              </a:rPr>
              <a:t>df.astype(str), pd.to_datetime(): Converts ZIP Code to string, Week Start and Week End to datetime.</a:t>
            </a:r>
            <a:endParaRPr lang="en-US" sz="1850" dirty="0"/>
          </a:p>
        </p:txBody>
      </p:sp>
      <p:sp>
        <p:nvSpPr>
          <p:cNvPr id="8" name="Rectangle 7">
            <a:extLst>
              <a:ext uri="{FF2B5EF4-FFF2-40B4-BE49-F238E27FC236}">
                <a16:creationId xmlns:a16="http://schemas.microsoft.com/office/drawing/2014/main" id="{F3F2321C-0616-F28F-556A-7808E265FFFD}"/>
              </a:ext>
            </a:extLst>
          </p:cNvPr>
          <p:cNvSpPr/>
          <p:nvPr/>
        </p:nvSpPr>
        <p:spPr>
          <a:xfrm>
            <a:off x="12850586" y="7809667"/>
            <a:ext cx="1632857" cy="305633"/>
          </a:xfrm>
          <a:prstGeom prst="rect">
            <a:avLst/>
          </a:prstGeom>
          <a:solidFill>
            <a:srgbClr val="FE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42236" y="1119783"/>
            <a:ext cx="7644765" cy="623649"/>
          </a:xfrm>
          <a:prstGeom prst="rect">
            <a:avLst/>
          </a:prstGeom>
          <a:noFill/>
          <a:ln/>
        </p:spPr>
        <p:txBody>
          <a:bodyPr wrap="none" lIns="0" tIns="0" rIns="0" bIns="0" rtlCol="0" anchor="t"/>
          <a:lstStyle/>
          <a:p>
            <a:pPr marL="0" indent="0" algn="l">
              <a:lnSpc>
                <a:spcPts val="4900"/>
              </a:lnSpc>
              <a:buNone/>
            </a:pPr>
            <a:r>
              <a:rPr lang="en-US" sz="3900" dirty="0">
                <a:solidFill>
                  <a:srgbClr val="38512F"/>
                </a:solidFill>
                <a:latin typeface="Lora" pitchFamily="34" charset="0"/>
                <a:ea typeface="Lora" pitchFamily="34" charset="-122"/>
                <a:cs typeface="Lora" pitchFamily="34" charset="-120"/>
              </a:rPr>
              <a:t>Weekly COVID-19 Trend Analysis</a:t>
            </a:r>
            <a:endParaRPr lang="en-US" sz="3900" dirty="0"/>
          </a:p>
        </p:txBody>
      </p:sp>
      <p:sp>
        <p:nvSpPr>
          <p:cNvPr id="4" name="Shape 1"/>
          <p:cNvSpPr/>
          <p:nvPr/>
        </p:nvSpPr>
        <p:spPr>
          <a:xfrm>
            <a:off x="980718" y="2061448"/>
            <a:ext cx="22860" cy="5048250"/>
          </a:xfrm>
          <a:prstGeom prst="roundRect">
            <a:avLst>
              <a:gd name="adj" fmla="val 139153"/>
            </a:avLst>
          </a:prstGeom>
          <a:solidFill>
            <a:srgbClr val="D9CDBA"/>
          </a:solidFill>
          <a:ln/>
        </p:spPr>
        <p:txBody>
          <a:bodyPr/>
          <a:lstStyle/>
          <a:p>
            <a:endParaRPr lang="en-US"/>
          </a:p>
        </p:txBody>
      </p:sp>
      <p:sp>
        <p:nvSpPr>
          <p:cNvPr id="5" name="Shape 2"/>
          <p:cNvSpPr/>
          <p:nvPr/>
        </p:nvSpPr>
        <p:spPr>
          <a:xfrm>
            <a:off x="1196400" y="2526983"/>
            <a:ext cx="636151" cy="22860"/>
          </a:xfrm>
          <a:prstGeom prst="roundRect">
            <a:avLst>
              <a:gd name="adj" fmla="val 139153"/>
            </a:avLst>
          </a:prstGeom>
          <a:solidFill>
            <a:srgbClr val="D9CDBA"/>
          </a:solidFill>
          <a:ln/>
        </p:spPr>
        <p:txBody>
          <a:bodyPr/>
          <a:lstStyle/>
          <a:p>
            <a:endParaRPr lang="en-US"/>
          </a:p>
        </p:txBody>
      </p:sp>
      <p:sp>
        <p:nvSpPr>
          <p:cNvPr id="6" name="Shape 3"/>
          <p:cNvSpPr/>
          <p:nvPr/>
        </p:nvSpPr>
        <p:spPr>
          <a:xfrm>
            <a:off x="742176" y="2299930"/>
            <a:ext cx="477083" cy="477083"/>
          </a:xfrm>
          <a:prstGeom prst="roundRect">
            <a:avLst>
              <a:gd name="adj" fmla="val 6668"/>
            </a:avLst>
          </a:prstGeom>
          <a:solidFill>
            <a:srgbClr val="F3E7D4"/>
          </a:solidFill>
          <a:ln/>
        </p:spPr>
        <p:txBody>
          <a:bodyPr/>
          <a:lstStyle/>
          <a:p>
            <a:endParaRPr lang="en-US"/>
          </a:p>
        </p:txBody>
      </p:sp>
      <p:sp>
        <p:nvSpPr>
          <p:cNvPr id="7" name="Text 4"/>
          <p:cNvSpPr/>
          <p:nvPr/>
        </p:nvSpPr>
        <p:spPr>
          <a:xfrm>
            <a:off x="830997" y="2351306"/>
            <a:ext cx="299323" cy="374213"/>
          </a:xfrm>
          <a:prstGeom prst="rect">
            <a:avLst/>
          </a:prstGeom>
          <a:noFill/>
          <a:ln/>
        </p:spPr>
        <p:txBody>
          <a:bodyPr wrap="none" lIns="0" tIns="0" rIns="0" bIns="0" rtlCol="0" anchor="t"/>
          <a:lstStyle/>
          <a:p>
            <a:pPr marL="0" indent="0" algn="ctr">
              <a:lnSpc>
                <a:spcPts val="2350"/>
              </a:lnSpc>
              <a:buNone/>
            </a:pPr>
            <a:r>
              <a:rPr lang="en-US" sz="2350" dirty="0">
                <a:solidFill>
                  <a:srgbClr val="3A3630"/>
                </a:solidFill>
                <a:latin typeface="Lora" pitchFamily="34" charset="0"/>
                <a:ea typeface="Lora" pitchFamily="34" charset="-122"/>
                <a:cs typeface="Lora" pitchFamily="34" charset="-120"/>
              </a:rPr>
              <a:t>1</a:t>
            </a:r>
            <a:endParaRPr lang="en-US" sz="2350" dirty="0"/>
          </a:p>
        </p:txBody>
      </p:sp>
      <p:sp>
        <p:nvSpPr>
          <p:cNvPr id="8" name="Text 5"/>
          <p:cNvSpPr/>
          <p:nvPr/>
        </p:nvSpPr>
        <p:spPr>
          <a:xfrm>
            <a:off x="2041088" y="2273498"/>
            <a:ext cx="2494836" cy="311706"/>
          </a:xfrm>
          <a:prstGeom prst="rect">
            <a:avLst/>
          </a:prstGeom>
          <a:noFill/>
          <a:ln/>
        </p:spPr>
        <p:txBody>
          <a:bodyPr wrap="none" lIns="0" tIns="0" rIns="0" bIns="0" rtlCol="0" anchor="t"/>
          <a:lstStyle/>
          <a:p>
            <a:pPr marL="0" indent="0" algn="l">
              <a:lnSpc>
                <a:spcPts val="2450"/>
              </a:lnSpc>
              <a:buNone/>
            </a:pPr>
            <a:r>
              <a:rPr lang="en-US" sz="1950" dirty="0">
                <a:solidFill>
                  <a:srgbClr val="3A3630"/>
                </a:solidFill>
                <a:latin typeface="Lora" pitchFamily="34" charset="0"/>
                <a:ea typeface="Lora" pitchFamily="34" charset="-122"/>
                <a:cs typeface="Lora" pitchFamily="34" charset="-120"/>
              </a:rPr>
              <a:t>Data Aggregation</a:t>
            </a:r>
            <a:endParaRPr lang="en-US" sz="1950" dirty="0"/>
          </a:p>
        </p:txBody>
      </p:sp>
      <p:sp>
        <p:nvSpPr>
          <p:cNvPr id="9" name="Text 6"/>
          <p:cNvSpPr/>
          <p:nvPr/>
        </p:nvSpPr>
        <p:spPr>
          <a:xfrm>
            <a:off x="2041088" y="2712363"/>
            <a:ext cx="6360676" cy="678418"/>
          </a:xfrm>
          <a:prstGeom prst="rect">
            <a:avLst/>
          </a:prstGeom>
          <a:noFill/>
          <a:ln/>
        </p:spPr>
        <p:txBody>
          <a:bodyPr wrap="square" lIns="0" tIns="0" rIns="0" bIns="0" rtlCol="0" anchor="t"/>
          <a:lstStyle/>
          <a:p>
            <a:pPr marL="0" indent="0" algn="l">
              <a:lnSpc>
                <a:spcPts val="2650"/>
              </a:lnSpc>
              <a:buNone/>
            </a:pPr>
            <a:r>
              <a:rPr lang="en-US" sz="1650" dirty="0">
                <a:solidFill>
                  <a:srgbClr val="3A3630"/>
                </a:solidFill>
                <a:latin typeface="Source Sans Pro" pitchFamily="34" charset="0"/>
                <a:ea typeface="Source Sans Pro" pitchFamily="34" charset="-122"/>
                <a:cs typeface="Source Sans Pro" pitchFamily="34" charset="-120"/>
              </a:rPr>
              <a:t>Data was aggregated by week across all ZIP codes to compute total Cases - Weekly, Deaths - Weekly, and Tests - Weekly.</a:t>
            </a:r>
            <a:endParaRPr lang="en-US" sz="1650" dirty="0"/>
          </a:p>
        </p:txBody>
      </p:sp>
      <p:sp>
        <p:nvSpPr>
          <p:cNvPr id="10" name="Shape 7"/>
          <p:cNvSpPr/>
          <p:nvPr/>
        </p:nvSpPr>
        <p:spPr>
          <a:xfrm>
            <a:off x="1196400" y="4280416"/>
            <a:ext cx="636151" cy="22860"/>
          </a:xfrm>
          <a:prstGeom prst="roundRect">
            <a:avLst>
              <a:gd name="adj" fmla="val 139153"/>
            </a:avLst>
          </a:prstGeom>
          <a:solidFill>
            <a:srgbClr val="D9CDBA"/>
          </a:solidFill>
          <a:ln/>
        </p:spPr>
        <p:txBody>
          <a:bodyPr/>
          <a:lstStyle/>
          <a:p>
            <a:endParaRPr lang="en-US"/>
          </a:p>
        </p:txBody>
      </p:sp>
      <p:sp>
        <p:nvSpPr>
          <p:cNvPr id="11" name="Shape 8"/>
          <p:cNvSpPr/>
          <p:nvPr/>
        </p:nvSpPr>
        <p:spPr>
          <a:xfrm>
            <a:off x="742176" y="4053364"/>
            <a:ext cx="477083" cy="477083"/>
          </a:xfrm>
          <a:prstGeom prst="roundRect">
            <a:avLst>
              <a:gd name="adj" fmla="val 6668"/>
            </a:avLst>
          </a:prstGeom>
          <a:solidFill>
            <a:srgbClr val="F3E7D4"/>
          </a:solidFill>
          <a:ln/>
        </p:spPr>
        <p:txBody>
          <a:bodyPr/>
          <a:lstStyle/>
          <a:p>
            <a:endParaRPr lang="en-US"/>
          </a:p>
        </p:txBody>
      </p:sp>
      <p:sp>
        <p:nvSpPr>
          <p:cNvPr id="12" name="Text 9"/>
          <p:cNvSpPr/>
          <p:nvPr/>
        </p:nvSpPr>
        <p:spPr>
          <a:xfrm>
            <a:off x="830997" y="4104739"/>
            <a:ext cx="299323" cy="374213"/>
          </a:xfrm>
          <a:prstGeom prst="rect">
            <a:avLst/>
          </a:prstGeom>
          <a:noFill/>
          <a:ln/>
        </p:spPr>
        <p:txBody>
          <a:bodyPr wrap="none" lIns="0" tIns="0" rIns="0" bIns="0" rtlCol="0" anchor="t"/>
          <a:lstStyle/>
          <a:p>
            <a:pPr marL="0" indent="0" algn="ctr">
              <a:lnSpc>
                <a:spcPts val="2350"/>
              </a:lnSpc>
              <a:buNone/>
            </a:pPr>
            <a:r>
              <a:rPr lang="en-US" sz="2350" dirty="0">
                <a:solidFill>
                  <a:srgbClr val="3A3630"/>
                </a:solidFill>
                <a:latin typeface="Lora" pitchFamily="34" charset="0"/>
                <a:ea typeface="Lora" pitchFamily="34" charset="-122"/>
                <a:cs typeface="Lora" pitchFamily="34" charset="-120"/>
              </a:rPr>
              <a:t>2</a:t>
            </a:r>
            <a:endParaRPr lang="en-US" sz="2350" dirty="0"/>
          </a:p>
        </p:txBody>
      </p:sp>
      <p:sp>
        <p:nvSpPr>
          <p:cNvPr id="13" name="Text 10"/>
          <p:cNvSpPr/>
          <p:nvPr/>
        </p:nvSpPr>
        <p:spPr>
          <a:xfrm>
            <a:off x="2041088" y="4026932"/>
            <a:ext cx="2494836" cy="311706"/>
          </a:xfrm>
          <a:prstGeom prst="rect">
            <a:avLst/>
          </a:prstGeom>
          <a:noFill/>
          <a:ln/>
        </p:spPr>
        <p:txBody>
          <a:bodyPr wrap="none" lIns="0" tIns="0" rIns="0" bIns="0" rtlCol="0" anchor="t"/>
          <a:lstStyle/>
          <a:p>
            <a:pPr marL="0" indent="0" algn="l">
              <a:lnSpc>
                <a:spcPts val="2450"/>
              </a:lnSpc>
              <a:buNone/>
            </a:pPr>
            <a:r>
              <a:rPr lang="en-US" sz="1950" dirty="0">
                <a:solidFill>
                  <a:srgbClr val="3A3630"/>
                </a:solidFill>
                <a:latin typeface="Lora" pitchFamily="34" charset="0"/>
                <a:ea typeface="Lora" pitchFamily="34" charset="-122"/>
                <a:cs typeface="Lora" pitchFamily="34" charset="-120"/>
              </a:rPr>
              <a:t>Trend Visualization</a:t>
            </a:r>
            <a:endParaRPr lang="en-US" sz="1950" dirty="0"/>
          </a:p>
        </p:txBody>
      </p:sp>
      <p:sp>
        <p:nvSpPr>
          <p:cNvPr id="14" name="Text 11"/>
          <p:cNvSpPr/>
          <p:nvPr/>
        </p:nvSpPr>
        <p:spPr>
          <a:xfrm>
            <a:off x="2041088" y="4465796"/>
            <a:ext cx="6360676" cy="678418"/>
          </a:xfrm>
          <a:prstGeom prst="rect">
            <a:avLst/>
          </a:prstGeom>
          <a:noFill/>
          <a:ln/>
        </p:spPr>
        <p:txBody>
          <a:bodyPr wrap="square" lIns="0" tIns="0" rIns="0" bIns="0" rtlCol="0" anchor="t"/>
          <a:lstStyle/>
          <a:p>
            <a:pPr marL="0" indent="0" algn="l">
              <a:lnSpc>
                <a:spcPts val="2650"/>
              </a:lnSpc>
              <a:buNone/>
            </a:pPr>
            <a:r>
              <a:rPr lang="en-US" sz="1650" dirty="0">
                <a:solidFill>
                  <a:srgbClr val="3A3630"/>
                </a:solidFill>
                <a:latin typeface="Source Sans Pro" pitchFamily="34" charset="0"/>
                <a:ea typeface="Source Sans Pro" pitchFamily="34" charset="-122"/>
                <a:cs typeface="Source Sans Pro" pitchFamily="34" charset="-120"/>
              </a:rPr>
              <a:t>Trends were visualized using a line plot to show temporal progression and a stacked area chart to show cumulative contribution.</a:t>
            </a:r>
            <a:endParaRPr lang="en-US" sz="1650" dirty="0"/>
          </a:p>
        </p:txBody>
      </p:sp>
      <p:sp>
        <p:nvSpPr>
          <p:cNvPr id="15" name="Shape 12"/>
          <p:cNvSpPr/>
          <p:nvPr/>
        </p:nvSpPr>
        <p:spPr>
          <a:xfrm>
            <a:off x="1196400" y="6033849"/>
            <a:ext cx="636151" cy="22860"/>
          </a:xfrm>
          <a:prstGeom prst="roundRect">
            <a:avLst>
              <a:gd name="adj" fmla="val 139153"/>
            </a:avLst>
          </a:prstGeom>
          <a:solidFill>
            <a:srgbClr val="D9CDBA"/>
          </a:solidFill>
          <a:ln/>
        </p:spPr>
        <p:txBody>
          <a:bodyPr/>
          <a:lstStyle/>
          <a:p>
            <a:endParaRPr lang="en-US"/>
          </a:p>
        </p:txBody>
      </p:sp>
      <p:sp>
        <p:nvSpPr>
          <p:cNvPr id="16" name="Shape 13"/>
          <p:cNvSpPr/>
          <p:nvPr/>
        </p:nvSpPr>
        <p:spPr>
          <a:xfrm>
            <a:off x="742176" y="5806797"/>
            <a:ext cx="477083" cy="477083"/>
          </a:xfrm>
          <a:prstGeom prst="roundRect">
            <a:avLst>
              <a:gd name="adj" fmla="val 6668"/>
            </a:avLst>
          </a:prstGeom>
          <a:solidFill>
            <a:srgbClr val="F3E7D4"/>
          </a:solidFill>
          <a:ln/>
        </p:spPr>
        <p:txBody>
          <a:bodyPr/>
          <a:lstStyle/>
          <a:p>
            <a:endParaRPr lang="en-US"/>
          </a:p>
        </p:txBody>
      </p:sp>
      <p:sp>
        <p:nvSpPr>
          <p:cNvPr id="17" name="Text 14"/>
          <p:cNvSpPr/>
          <p:nvPr/>
        </p:nvSpPr>
        <p:spPr>
          <a:xfrm>
            <a:off x="830997" y="5858173"/>
            <a:ext cx="299323" cy="374213"/>
          </a:xfrm>
          <a:prstGeom prst="rect">
            <a:avLst/>
          </a:prstGeom>
          <a:noFill/>
          <a:ln/>
        </p:spPr>
        <p:txBody>
          <a:bodyPr wrap="none" lIns="0" tIns="0" rIns="0" bIns="0" rtlCol="0" anchor="t"/>
          <a:lstStyle/>
          <a:p>
            <a:pPr marL="0" indent="0" algn="ctr">
              <a:lnSpc>
                <a:spcPts val="2350"/>
              </a:lnSpc>
              <a:buNone/>
            </a:pPr>
            <a:r>
              <a:rPr lang="en-US" sz="2350" dirty="0">
                <a:solidFill>
                  <a:srgbClr val="3A3630"/>
                </a:solidFill>
                <a:latin typeface="Lora" pitchFamily="34" charset="0"/>
                <a:ea typeface="Lora" pitchFamily="34" charset="-122"/>
                <a:cs typeface="Lora" pitchFamily="34" charset="-120"/>
              </a:rPr>
              <a:t>3</a:t>
            </a:r>
            <a:endParaRPr lang="en-US" sz="2350" dirty="0"/>
          </a:p>
        </p:txBody>
      </p:sp>
      <p:sp>
        <p:nvSpPr>
          <p:cNvPr id="18" name="Text 15"/>
          <p:cNvSpPr/>
          <p:nvPr/>
        </p:nvSpPr>
        <p:spPr>
          <a:xfrm>
            <a:off x="2041088" y="5780365"/>
            <a:ext cx="2494836" cy="311706"/>
          </a:xfrm>
          <a:prstGeom prst="rect">
            <a:avLst/>
          </a:prstGeom>
          <a:noFill/>
          <a:ln/>
        </p:spPr>
        <p:txBody>
          <a:bodyPr wrap="none" lIns="0" tIns="0" rIns="0" bIns="0" rtlCol="0" anchor="t"/>
          <a:lstStyle/>
          <a:p>
            <a:pPr marL="0" indent="0" algn="l">
              <a:lnSpc>
                <a:spcPts val="2450"/>
              </a:lnSpc>
              <a:buNone/>
            </a:pPr>
            <a:r>
              <a:rPr lang="en-US" sz="1950" dirty="0">
                <a:solidFill>
                  <a:srgbClr val="3A3630"/>
                </a:solidFill>
                <a:latin typeface="Lora" pitchFamily="34" charset="0"/>
                <a:ea typeface="Lora" pitchFamily="34" charset="-122"/>
                <a:cs typeface="Lora" pitchFamily="34" charset="-120"/>
              </a:rPr>
              <a:t>Peak Identification</a:t>
            </a:r>
            <a:endParaRPr lang="en-US" sz="1950" dirty="0"/>
          </a:p>
        </p:txBody>
      </p:sp>
      <p:sp>
        <p:nvSpPr>
          <p:cNvPr id="19" name="Text 16"/>
          <p:cNvSpPr/>
          <p:nvPr/>
        </p:nvSpPr>
        <p:spPr>
          <a:xfrm>
            <a:off x="2041088" y="6219230"/>
            <a:ext cx="6360676" cy="678418"/>
          </a:xfrm>
          <a:prstGeom prst="rect">
            <a:avLst/>
          </a:prstGeom>
          <a:noFill/>
          <a:ln/>
        </p:spPr>
        <p:txBody>
          <a:bodyPr wrap="square" lIns="0" tIns="0" rIns="0" bIns="0" rtlCol="0" anchor="t"/>
          <a:lstStyle/>
          <a:p>
            <a:pPr marL="0" indent="0" algn="l">
              <a:lnSpc>
                <a:spcPts val="2650"/>
              </a:lnSpc>
              <a:buNone/>
            </a:pPr>
            <a:r>
              <a:rPr lang="en-US" sz="1650" dirty="0">
                <a:solidFill>
                  <a:srgbClr val="3A3630"/>
                </a:solidFill>
                <a:latin typeface="Source Sans Pro" pitchFamily="34" charset="0"/>
                <a:ea typeface="Source Sans Pro" pitchFamily="34" charset="-122"/>
                <a:cs typeface="Source Sans Pro" pitchFamily="34" charset="-120"/>
              </a:rPr>
              <a:t>Cases - Weekly peaked around late 2020 and early 2022, indicating two major waves. Deaths - Weekly followed a similar pattern.</a:t>
            </a:r>
            <a:endParaRPr lang="en-US" sz="1650" dirty="0"/>
          </a:p>
        </p:txBody>
      </p:sp>
      <p:pic>
        <p:nvPicPr>
          <p:cNvPr id="21" name="Picture 20" descr="A graph showing the spread of coronavirus&#10;&#10;AI-generated content may be incorrect.">
            <a:extLst>
              <a:ext uri="{FF2B5EF4-FFF2-40B4-BE49-F238E27FC236}">
                <a16:creationId xmlns:a16="http://schemas.microsoft.com/office/drawing/2014/main" id="{730D7EE1-D78C-DDD8-1872-FA47309BC73C}"/>
              </a:ext>
            </a:extLst>
          </p:cNvPr>
          <p:cNvPicPr>
            <a:picLocks noChangeAspect="1"/>
          </p:cNvPicPr>
          <p:nvPr/>
        </p:nvPicPr>
        <p:blipFill>
          <a:blip r:embed="rId3"/>
          <a:stretch>
            <a:fillRect/>
          </a:stretch>
        </p:blipFill>
        <p:spPr>
          <a:xfrm>
            <a:off x="8645722" y="2725518"/>
            <a:ext cx="5984678" cy="29923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766882" y="1077992"/>
            <a:ext cx="7610237" cy="1288733"/>
          </a:xfrm>
          <a:prstGeom prst="rect">
            <a:avLst/>
          </a:prstGeom>
          <a:noFill/>
          <a:ln/>
        </p:spPr>
        <p:txBody>
          <a:bodyPr wrap="square" lIns="0" tIns="0" rIns="0" bIns="0" rtlCol="0" anchor="t"/>
          <a:lstStyle/>
          <a:p>
            <a:pPr marL="0" indent="0" algn="l">
              <a:lnSpc>
                <a:spcPts val="5050"/>
              </a:lnSpc>
              <a:buNone/>
            </a:pPr>
            <a:r>
              <a:rPr lang="en-US" sz="4050" dirty="0">
                <a:solidFill>
                  <a:srgbClr val="38512F"/>
                </a:solidFill>
                <a:latin typeface="Lora" pitchFamily="34" charset="0"/>
                <a:ea typeface="Lora" pitchFamily="34" charset="-122"/>
                <a:cs typeface="Lora" pitchFamily="34" charset="-120"/>
              </a:rPr>
              <a:t>Correlation Analysis Between Cases, Deaths, and Tests</a:t>
            </a:r>
            <a:endParaRPr lang="en-US" sz="4050" dirty="0"/>
          </a:p>
        </p:txBody>
      </p:sp>
      <p:sp>
        <p:nvSpPr>
          <p:cNvPr id="4" name="Shape 1"/>
          <p:cNvSpPr/>
          <p:nvPr/>
        </p:nvSpPr>
        <p:spPr>
          <a:xfrm>
            <a:off x="766882" y="2695337"/>
            <a:ext cx="3695581" cy="2644378"/>
          </a:xfrm>
          <a:prstGeom prst="roundRect">
            <a:avLst>
              <a:gd name="adj" fmla="val 1243"/>
            </a:avLst>
          </a:prstGeom>
          <a:solidFill>
            <a:srgbClr val="F3E7D4"/>
          </a:solidFill>
          <a:ln/>
        </p:spPr>
        <p:txBody>
          <a:bodyPr/>
          <a:lstStyle/>
          <a:p>
            <a:endParaRPr lang="en-US"/>
          </a:p>
        </p:txBody>
      </p:sp>
      <p:sp>
        <p:nvSpPr>
          <p:cNvPr id="5" name="Text 2"/>
          <p:cNvSpPr/>
          <p:nvPr/>
        </p:nvSpPr>
        <p:spPr>
          <a:xfrm>
            <a:off x="985957" y="2914412"/>
            <a:ext cx="2577941" cy="322183"/>
          </a:xfrm>
          <a:prstGeom prst="rect">
            <a:avLst/>
          </a:prstGeom>
          <a:noFill/>
          <a:ln/>
        </p:spPr>
        <p:txBody>
          <a:bodyPr wrap="none" lIns="0" tIns="0" rIns="0" bIns="0" rtlCol="0" anchor="t"/>
          <a:lstStyle/>
          <a:p>
            <a:pPr marL="0" indent="0" algn="l">
              <a:lnSpc>
                <a:spcPts val="2500"/>
              </a:lnSpc>
              <a:buNone/>
            </a:pPr>
            <a:r>
              <a:rPr lang="en-US" sz="2000" dirty="0">
                <a:solidFill>
                  <a:srgbClr val="3A3630"/>
                </a:solidFill>
                <a:latin typeface="Lora" pitchFamily="34" charset="0"/>
                <a:ea typeface="Lora" pitchFamily="34" charset="-122"/>
                <a:cs typeface="Lora" pitchFamily="34" charset="-120"/>
              </a:rPr>
              <a:t>Correlation Matrix</a:t>
            </a:r>
            <a:endParaRPr lang="en-US" sz="2000" dirty="0"/>
          </a:p>
        </p:txBody>
      </p:sp>
      <p:sp>
        <p:nvSpPr>
          <p:cNvPr id="6" name="Text 3"/>
          <p:cNvSpPr/>
          <p:nvPr/>
        </p:nvSpPr>
        <p:spPr>
          <a:xfrm>
            <a:off x="985957" y="3368040"/>
            <a:ext cx="3257431" cy="1752600"/>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Computed the Pearson correlation matrix for Cases - Weekly, Deaths - Weekly, and Tests - Weekly. Cases - Weekly and Deaths - Weekly have a strong positive correlation of 0.65.</a:t>
            </a:r>
            <a:endParaRPr lang="en-US" sz="1700" dirty="0"/>
          </a:p>
        </p:txBody>
      </p:sp>
      <p:sp>
        <p:nvSpPr>
          <p:cNvPr id="7" name="Shape 4"/>
          <p:cNvSpPr/>
          <p:nvPr/>
        </p:nvSpPr>
        <p:spPr>
          <a:xfrm>
            <a:off x="4681538" y="2695337"/>
            <a:ext cx="3695581" cy="2644378"/>
          </a:xfrm>
          <a:prstGeom prst="roundRect">
            <a:avLst>
              <a:gd name="adj" fmla="val 1243"/>
            </a:avLst>
          </a:prstGeom>
          <a:solidFill>
            <a:srgbClr val="F3E7D4"/>
          </a:solidFill>
          <a:ln/>
        </p:spPr>
        <p:txBody>
          <a:bodyPr/>
          <a:lstStyle/>
          <a:p>
            <a:endParaRPr lang="en-US"/>
          </a:p>
        </p:txBody>
      </p:sp>
      <p:sp>
        <p:nvSpPr>
          <p:cNvPr id="8" name="Text 5"/>
          <p:cNvSpPr/>
          <p:nvPr/>
        </p:nvSpPr>
        <p:spPr>
          <a:xfrm>
            <a:off x="4900613" y="2914412"/>
            <a:ext cx="2633662" cy="322183"/>
          </a:xfrm>
          <a:prstGeom prst="rect">
            <a:avLst/>
          </a:prstGeom>
          <a:noFill/>
          <a:ln/>
        </p:spPr>
        <p:txBody>
          <a:bodyPr wrap="none" lIns="0" tIns="0" rIns="0" bIns="0" rtlCol="0" anchor="t"/>
          <a:lstStyle/>
          <a:p>
            <a:pPr marL="0" indent="0" algn="l">
              <a:lnSpc>
                <a:spcPts val="2500"/>
              </a:lnSpc>
              <a:buNone/>
            </a:pPr>
            <a:r>
              <a:rPr lang="en-US" sz="2000" dirty="0">
                <a:solidFill>
                  <a:srgbClr val="3A3630"/>
                </a:solidFill>
                <a:latin typeface="Lora" pitchFamily="34" charset="0"/>
                <a:ea typeface="Lora" pitchFamily="34" charset="-122"/>
                <a:cs typeface="Lora" pitchFamily="34" charset="-120"/>
              </a:rPr>
              <a:t>Case-Test Correlation</a:t>
            </a:r>
            <a:endParaRPr lang="en-US" sz="2000" dirty="0"/>
          </a:p>
        </p:txBody>
      </p:sp>
      <p:sp>
        <p:nvSpPr>
          <p:cNvPr id="9" name="Text 6"/>
          <p:cNvSpPr/>
          <p:nvPr/>
        </p:nvSpPr>
        <p:spPr>
          <a:xfrm>
            <a:off x="4900613" y="3368040"/>
            <a:ext cx="3257431" cy="1752600"/>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Cases - Weekly and Tests - Weekly have a moderate correlation of 0.49, suggesting testing increased with case surges but not proportionally.</a:t>
            </a:r>
            <a:endParaRPr lang="en-US" sz="1700" dirty="0"/>
          </a:p>
        </p:txBody>
      </p:sp>
      <p:sp>
        <p:nvSpPr>
          <p:cNvPr id="10" name="Shape 7"/>
          <p:cNvSpPr/>
          <p:nvPr/>
        </p:nvSpPr>
        <p:spPr>
          <a:xfrm>
            <a:off x="766882" y="5558790"/>
            <a:ext cx="7610237" cy="1592818"/>
          </a:xfrm>
          <a:prstGeom prst="roundRect">
            <a:avLst>
              <a:gd name="adj" fmla="val 2064"/>
            </a:avLst>
          </a:prstGeom>
          <a:solidFill>
            <a:srgbClr val="F3E7D4"/>
          </a:solidFill>
          <a:ln/>
        </p:spPr>
        <p:txBody>
          <a:bodyPr/>
          <a:lstStyle/>
          <a:p>
            <a:endParaRPr lang="en-US"/>
          </a:p>
        </p:txBody>
      </p:sp>
      <p:sp>
        <p:nvSpPr>
          <p:cNvPr id="11" name="Text 8"/>
          <p:cNvSpPr/>
          <p:nvPr/>
        </p:nvSpPr>
        <p:spPr>
          <a:xfrm>
            <a:off x="985957" y="5777865"/>
            <a:ext cx="2778085" cy="322183"/>
          </a:xfrm>
          <a:prstGeom prst="rect">
            <a:avLst/>
          </a:prstGeom>
          <a:noFill/>
          <a:ln/>
        </p:spPr>
        <p:txBody>
          <a:bodyPr wrap="none" lIns="0" tIns="0" rIns="0" bIns="0" rtlCol="0" anchor="t"/>
          <a:lstStyle/>
          <a:p>
            <a:pPr marL="0" indent="0" algn="l">
              <a:lnSpc>
                <a:spcPts val="2500"/>
              </a:lnSpc>
              <a:buNone/>
            </a:pPr>
            <a:r>
              <a:rPr lang="en-US" sz="2000" dirty="0">
                <a:solidFill>
                  <a:srgbClr val="3A3630"/>
                </a:solidFill>
                <a:latin typeface="Lora" pitchFamily="34" charset="0"/>
                <a:ea typeface="Lora" pitchFamily="34" charset="-122"/>
                <a:cs typeface="Lora" pitchFamily="34" charset="-120"/>
              </a:rPr>
              <a:t>Death-Test Correlation</a:t>
            </a:r>
            <a:endParaRPr lang="en-US" sz="2000" dirty="0"/>
          </a:p>
        </p:txBody>
      </p:sp>
      <p:sp>
        <p:nvSpPr>
          <p:cNvPr id="12" name="Text 9"/>
          <p:cNvSpPr/>
          <p:nvPr/>
        </p:nvSpPr>
        <p:spPr>
          <a:xfrm>
            <a:off x="985957" y="6231493"/>
            <a:ext cx="7172087" cy="701040"/>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Deaths - Weekly and Tests - Weekly have a weaker correlation of 0.33, reflecting a less direct relationship.</a:t>
            </a:r>
            <a:endParaRPr lang="en-US" sz="1700" dirty="0"/>
          </a:p>
        </p:txBody>
      </p:sp>
      <p:pic>
        <p:nvPicPr>
          <p:cNvPr id="16" name="Picture 15" descr="A screenshot of a graph&#10;&#10;AI-generated content may be incorrect.">
            <a:extLst>
              <a:ext uri="{FF2B5EF4-FFF2-40B4-BE49-F238E27FC236}">
                <a16:creationId xmlns:a16="http://schemas.microsoft.com/office/drawing/2014/main" id="{F3307656-E310-282D-9E6D-BE5ECF24EEAB}"/>
              </a:ext>
            </a:extLst>
          </p:cNvPr>
          <p:cNvPicPr>
            <a:picLocks noChangeAspect="1"/>
          </p:cNvPicPr>
          <p:nvPr/>
        </p:nvPicPr>
        <p:blipFill>
          <a:blip r:embed="rId3"/>
          <a:stretch>
            <a:fillRect/>
          </a:stretch>
        </p:blipFill>
        <p:spPr>
          <a:xfrm>
            <a:off x="8703690" y="2695337"/>
            <a:ext cx="5671366" cy="42535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837724" y="757833"/>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ZIP Code Wise COVID-19 Severity Analysis</a:t>
            </a:r>
            <a:endParaRPr lang="en-US" sz="4400" dirty="0"/>
          </a:p>
        </p:txBody>
      </p:sp>
      <p:pic>
        <p:nvPicPr>
          <p:cNvPr id="4" name="Image 1" descr="preencoded.png"/>
          <p:cNvPicPr>
            <a:picLocks noChangeAspect="1"/>
          </p:cNvPicPr>
          <p:nvPr/>
        </p:nvPicPr>
        <p:blipFill>
          <a:blip r:embed="rId3"/>
          <a:stretch>
            <a:fillRect/>
          </a:stretch>
        </p:blipFill>
        <p:spPr>
          <a:xfrm>
            <a:off x="837724" y="2566630"/>
            <a:ext cx="598408" cy="598408"/>
          </a:xfrm>
          <a:prstGeom prst="rect">
            <a:avLst/>
          </a:prstGeom>
        </p:spPr>
      </p:pic>
      <p:sp>
        <p:nvSpPr>
          <p:cNvPr id="5" name="Text 1"/>
          <p:cNvSpPr/>
          <p:nvPr/>
        </p:nvSpPr>
        <p:spPr>
          <a:xfrm>
            <a:off x="1675448" y="2524839"/>
            <a:ext cx="2717006" cy="703898"/>
          </a:xfrm>
          <a:prstGeom prst="rect">
            <a:avLst/>
          </a:prstGeom>
          <a:noFill/>
          <a:ln/>
        </p:spPr>
        <p:txBody>
          <a:bodyPr wrap="squar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Geographic Variation</a:t>
            </a:r>
            <a:endParaRPr lang="en-US" sz="2200" dirty="0"/>
          </a:p>
        </p:txBody>
      </p:sp>
      <p:sp>
        <p:nvSpPr>
          <p:cNvPr id="6" name="Text 2"/>
          <p:cNvSpPr/>
          <p:nvPr/>
        </p:nvSpPr>
        <p:spPr>
          <a:xfrm>
            <a:off x="1675448" y="3372326"/>
            <a:ext cx="2717006" cy="268116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Geographic variation in COVID-19 impact highlights areas needing attention. Data was aggregated by ZIP code to compute total Cases - Weekly, Deaths - Weekly, and Tests - Weekly.</a:t>
            </a:r>
            <a:endParaRPr lang="en-US" sz="1850" dirty="0"/>
          </a:p>
        </p:txBody>
      </p:sp>
      <p:pic>
        <p:nvPicPr>
          <p:cNvPr id="7" name="Image 2" descr="preencoded.png"/>
          <p:cNvPicPr>
            <a:picLocks noChangeAspect="1"/>
          </p:cNvPicPr>
          <p:nvPr/>
        </p:nvPicPr>
        <p:blipFill>
          <a:blip r:embed="rId4"/>
          <a:stretch>
            <a:fillRect/>
          </a:stretch>
        </p:blipFill>
        <p:spPr>
          <a:xfrm>
            <a:off x="4751427" y="2566630"/>
            <a:ext cx="598408" cy="598408"/>
          </a:xfrm>
          <a:prstGeom prst="rect">
            <a:avLst/>
          </a:prstGeom>
        </p:spPr>
      </p:pic>
      <p:sp>
        <p:nvSpPr>
          <p:cNvPr id="8" name="Text 3"/>
          <p:cNvSpPr/>
          <p:nvPr/>
        </p:nvSpPr>
        <p:spPr>
          <a:xfrm>
            <a:off x="5589151" y="2524839"/>
            <a:ext cx="2717125" cy="703898"/>
          </a:xfrm>
          <a:prstGeom prst="rect">
            <a:avLst/>
          </a:prstGeom>
          <a:noFill/>
          <a:ln/>
        </p:spPr>
        <p:txBody>
          <a:bodyPr wrap="squar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Severity Visualization</a:t>
            </a:r>
            <a:endParaRPr lang="en-US" sz="2200" dirty="0"/>
          </a:p>
        </p:txBody>
      </p:sp>
      <p:sp>
        <p:nvSpPr>
          <p:cNvPr id="9" name="Text 4"/>
          <p:cNvSpPr/>
          <p:nvPr/>
        </p:nvSpPr>
        <p:spPr>
          <a:xfrm>
            <a:off x="5589151" y="3372326"/>
            <a:ext cx="2717125" cy="1915120"/>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Severity was visualized using three bar plots (top 10 ZIP codes per metric) and a heatmap (all ZIP codes).</a:t>
            </a:r>
            <a:endParaRPr lang="en-US" sz="1850" dirty="0"/>
          </a:p>
        </p:txBody>
      </p:sp>
      <p:sp>
        <p:nvSpPr>
          <p:cNvPr id="10" name="Text 5"/>
          <p:cNvSpPr/>
          <p:nvPr/>
        </p:nvSpPr>
        <p:spPr>
          <a:xfrm>
            <a:off x="837724" y="6322695"/>
            <a:ext cx="7468553"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ZIP code 60629 was identified as the highest in cases, deaths and tests. Urban ZIP codes dominate due to population size, with 60629 being the most affected across all metrics.</a:t>
            </a:r>
            <a:endParaRPr lang="en-US" sz="1850" dirty="0"/>
          </a:p>
        </p:txBody>
      </p:sp>
      <p:pic>
        <p:nvPicPr>
          <p:cNvPr id="11" name="Picture 10" descr="A graph of red dots&#10;&#10;AI-generated content may be incorrect.">
            <a:extLst>
              <a:ext uri="{FF2B5EF4-FFF2-40B4-BE49-F238E27FC236}">
                <a16:creationId xmlns:a16="http://schemas.microsoft.com/office/drawing/2014/main" id="{9BBBD927-3617-7B30-B5DE-698F2F8266D2}"/>
              </a:ext>
            </a:extLst>
          </p:cNvPr>
          <p:cNvPicPr>
            <a:picLocks noChangeAspect="1"/>
          </p:cNvPicPr>
          <p:nvPr/>
        </p:nvPicPr>
        <p:blipFill>
          <a:blip r:embed="rId5"/>
          <a:stretch>
            <a:fillRect/>
          </a:stretch>
        </p:blipFill>
        <p:spPr>
          <a:xfrm>
            <a:off x="8254121" y="2566630"/>
            <a:ext cx="6059851" cy="36359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251734" y="719733"/>
            <a:ext cx="7504152" cy="643176"/>
          </a:xfrm>
          <a:prstGeom prst="rect">
            <a:avLst/>
          </a:prstGeom>
          <a:noFill/>
          <a:ln/>
        </p:spPr>
        <p:txBody>
          <a:bodyPr wrap="none" lIns="0" tIns="0" rIns="0" bIns="0" rtlCol="0" anchor="t"/>
          <a:lstStyle/>
          <a:p>
            <a:pPr marL="0" indent="0" algn="l">
              <a:lnSpc>
                <a:spcPts val="5050"/>
              </a:lnSpc>
              <a:buNone/>
            </a:pPr>
            <a:r>
              <a:rPr lang="en-US" sz="4050" dirty="0">
                <a:solidFill>
                  <a:srgbClr val="38512F"/>
                </a:solidFill>
                <a:latin typeface="Lora" pitchFamily="34" charset="0"/>
                <a:ea typeface="Lora" pitchFamily="34" charset="-122"/>
                <a:cs typeface="Lora" pitchFamily="34" charset="-120"/>
              </a:rPr>
              <a:t>Outlier Detection in Case Rates</a:t>
            </a:r>
            <a:endParaRPr lang="en-US" sz="4050" dirty="0"/>
          </a:p>
        </p:txBody>
      </p:sp>
      <p:pic>
        <p:nvPicPr>
          <p:cNvPr id="4" name="Image 1" descr="preencoded.png"/>
          <p:cNvPicPr>
            <a:picLocks noChangeAspect="1"/>
          </p:cNvPicPr>
          <p:nvPr/>
        </p:nvPicPr>
        <p:blipFill>
          <a:blip r:embed="rId3"/>
          <a:stretch>
            <a:fillRect/>
          </a:stretch>
        </p:blipFill>
        <p:spPr>
          <a:xfrm>
            <a:off x="6251734" y="1690807"/>
            <a:ext cx="1093351" cy="1939647"/>
          </a:xfrm>
          <a:prstGeom prst="rect">
            <a:avLst/>
          </a:prstGeom>
        </p:spPr>
      </p:pic>
      <p:sp>
        <p:nvSpPr>
          <p:cNvPr id="5" name="Text 1"/>
          <p:cNvSpPr/>
          <p:nvPr/>
        </p:nvSpPr>
        <p:spPr>
          <a:xfrm>
            <a:off x="7672983" y="1909405"/>
            <a:ext cx="2572583" cy="321588"/>
          </a:xfrm>
          <a:prstGeom prst="rect">
            <a:avLst/>
          </a:prstGeom>
          <a:noFill/>
          <a:ln/>
        </p:spPr>
        <p:txBody>
          <a:bodyPr wrap="none" lIns="0" tIns="0" rIns="0" bIns="0" rtlCol="0" anchor="t"/>
          <a:lstStyle/>
          <a:p>
            <a:pPr marL="0" indent="0" algn="l">
              <a:lnSpc>
                <a:spcPts val="2500"/>
              </a:lnSpc>
              <a:buNone/>
            </a:pPr>
            <a:r>
              <a:rPr lang="en-US" sz="2000" dirty="0">
                <a:solidFill>
                  <a:srgbClr val="3A3630"/>
                </a:solidFill>
                <a:latin typeface="Lora" pitchFamily="34" charset="0"/>
                <a:ea typeface="Lora" pitchFamily="34" charset="-122"/>
                <a:cs typeface="Lora" pitchFamily="34" charset="-120"/>
              </a:rPr>
              <a:t>Outlier Identification</a:t>
            </a:r>
            <a:endParaRPr lang="en-US" sz="2000" dirty="0"/>
          </a:p>
        </p:txBody>
      </p:sp>
      <p:sp>
        <p:nvSpPr>
          <p:cNvPr id="6" name="Text 2"/>
          <p:cNvSpPr/>
          <p:nvPr/>
        </p:nvSpPr>
        <p:spPr>
          <a:xfrm>
            <a:off x="7672983" y="2362081"/>
            <a:ext cx="6192083" cy="1049774"/>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Outliers in case rates indicate unusual patterns, such as localized outbreaks. A boxplot was used to visualize the distribution of Case Rate - Weekly.</a:t>
            </a:r>
            <a:endParaRPr lang="en-US" sz="1700" dirty="0"/>
          </a:p>
        </p:txBody>
      </p:sp>
      <p:pic>
        <p:nvPicPr>
          <p:cNvPr id="7" name="Image 2" descr="preencoded.png"/>
          <p:cNvPicPr>
            <a:picLocks noChangeAspect="1"/>
          </p:cNvPicPr>
          <p:nvPr/>
        </p:nvPicPr>
        <p:blipFill>
          <a:blip r:embed="rId4"/>
          <a:stretch>
            <a:fillRect/>
          </a:stretch>
        </p:blipFill>
        <p:spPr>
          <a:xfrm>
            <a:off x="6251734" y="3630454"/>
            <a:ext cx="1093351" cy="1939647"/>
          </a:xfrm>
          <a:prstGeom prst="rect">
            <a:avLst/>
          </a:prstGeom>
        </p:spPr>
      </p:pic>
      <p:sp>
        <p:nvSpPr>
          <p:cNvPr id="8" name="Text 3"/>
          <p:cNvSpPr/>
          <p:nvPr/>
        </p:nvSpPr>
        <p:spPr>
          <a:xfrm>
            <a:off x="7672983" y="3849053"/>
            <a:ext cx="2572583" cy="321588"/>
          </a:xfrm>
          <a:prstGeom prst="rect">
            <a:avLst/>
          </a:prstGeom>
          <a:noFill/>
          <a:ln/>
        </p:spPr>
        <p:txBody>
          <a:bodyPr wrap="none" lIns="0" tIns="0" rIns="0" bIns="0" rtlCol="0" anchor="t"/>
          <a:lstStyle/>
          <a:p>
            <a:pPr marL="0" indent="0" algn="l">
              <a:lnSpc>
                <a:spcPts val="2500"/>
              </a:lnSpc>
              <a:buNone/>
            </a:pPr>
            <a:r>
              <a:rPr lang="en-US" sz="2000" dirty="0">
                <a:solidFill>
                  <a:srgbClr val="3A3630"/>
                </a:solidFill>
                <a:latin typeface="Lora" pitchFamily="34" charset="0"/>
                <a:ea typeface="Lora" pitchFamily="34" charset="-122"/>
                <a:cs typeface="Lora" pitchFamily="34" charset="-120"/>
              </a:rPr>
              <a:t>IQR Method</a:t>
            </a:r>
            <a:endParaRPr lang="en-US" sz="2000" dirty="0"/>
          </a:p>
        </p:txBody>
      </p:sp>
      <p:sp>
        <p:nvSpPr>
          <p:cNvPr id="9" name="Text 4"/>
          <p:cNvSpPr/>
          <p:nvPr/>
        </p:nvSpPr>
        <p:spPr>
          <a:xfrm>
            <a:off x="7672983" y="4301728"/>
            <a:ext cx="6192083" cy="1049774"/>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The IQR method was applied to identify outliers numerically. Outliers indicate potential data anomalies or significant public health events.</a:t>
            </a:r>
            <a:endParaRPr lang="en-US" sz="1700" dirty="0"/>
          </a:p>
        </p:txBody>
      </p:sp>
      <p:pic>
        <p:nvPicPr>
          <p:cNvPr id="10" name="Image 3" descr="preencoded.png"/>
          <p:cNvPicPr>
            <a:picLocks noChangeAspect="1"/>
          </p:cNvPicPr>
          <p:nvPr/>
        </p:nvPicPr>
        <p:blipFill>
          <a:blip r:embed="rId5"/>
          <a:stretch>
            <a:fillRect/>
          </a:stretch>
        </p:blipFill>
        <p:spPr>
          <a:xfrm>
            <a:off x="6251734" y="5570101"/>
            <a:ext cx="1093351" cy="1939647"/>
          </a:xfrm>
          <a:prstGeom prst="rect">
            <a:avLst/>
          </a:prstGeom>
        </p:spPr>
      </p:pic>
      <p:sp>
        <p:nvSpPr>
          <p:cNvPr id="11" name="Text 5"/>
          <p:cNvSpPr/>
          <p:nvPr/>
        </p:nvSpPr>
        <p:spPr>
          <a:xfrm>
            <a:off x="7672983" y="5788700"/>
            <a:ext cx="2572583" cy="321588"/>
          </a:xfrm>
          <a:prstGeom prst="rect">
            <a:avLst/>
          </a:prstGeom>
          <a:noFill/>
          <a:ln/>
        </p:spPr>
        <p:txBody>
          <a:bodyPr wrap="none" lIns="0" tIns="0" rIns="0" bIns="0" rtlCol="0" anchor="t"/>
          <a:lstStyle/>
          <a:p>
            <a:pPr marL="0" indent="0" algn="l">
              <a:lnSpc>
                <a:spcPts val="2500"/>
              </a:lnSpc>
              <a:buNone/>
            </a:pPr>
            <a:r>
              <a:rPr lang="en-US" sz="2000" dirty="0">
                <a:solidFill>
                  <a:srgbClr val="3A3630"/>
                </a:solidFill>
                <a:latin typeface="Lora" pitchFamily="34" charset="0"/>
                <a:ea typeface="Lora" pitchFamily="34" charset="-122"/>
                <a:cs typeface="Lora" pitchFamily="34" charset="-120"/>
              </a:rPr>
              <a:t>ZIP Code 60666</a:t>
            </a:r>
            <a:endParaRPr lang="en-US" sz="2000" dirty="0"/>
          </a:p>
        </p:txBody>
      </p:sp>
      <p:sp>
        <p:nvSpPr>
          <p:cNvPr id="12" name="Text 6"/>
          <p:cNvSpPr/>
          <p:nvPr/>
        </p:nvSpPr>
        <p:spPr>
          <a:xfrm>
            <a:off x="7672983" y="6241375"/>
            <a:ext cx="6192083" cy="1049774"/>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ZIP code 60666 (O’Hare Airport) showed extreme rates, suggesting a need to exclude or adjust for low-population areas in rate calculations.</a:t>
            </a:r>
            <a:endParaRPr lang="en-US" sz="1700" dirty="0"/>
          </a:p>
        </p:txBody>
      </p:sp>
      <p:sp>
        <p:nvSpPr>
          <p:cNvPr id="13" name="Rectangle 12">
            <a:extLst>
              <a:ext uri="{FF2B5EF4-FFF2-40B4-BE49-F238E27FC236}">
                <a16:creationId xmlns:a16="http://schemas.microsoft.com/office/drawing/2014/main" id="{EBDFACBA-CB0A-C264-6006-2C53A18EFA11}"/>
              </a:ext>
            </a:extLst>
          </p:cNvPr>
          <p:cNvSpPr/>
          <p:nvPr/>
        </p:nvSpPr>
        <p:spPr>
          <a:xfrm>
            <a:off x="12850586" y="7809667"/>
            <a:ext cx="1632857" cy="305633"/>
          </a:xfrm>
          <a:prstGeom prst="rect">
            <a:avLst/>
          </a:prstGeom>
          <a:solidFill>
            <a:srgbClr val="FE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graph with a line graph&#10;&#10;AI-generated content may be incorrect.">
            <a:extLst>
              <a:ext uri="{FF2B5EF4-FFF2-40B4-BE49-F238E27FC236}">
                <a16:creationId xmlns:a16="http://schemas.microsoft.com/office/drawing/2014/main" id="{8BB4B6CD-5A9E-30D7-C22D-919F4B6DF654}"/>
              </a:ext>
            </a:extLst>
          </p:cNvPr>
          <p:cNvPicPr>
            <a:picLocks noChangeAspect="1"/>
          </p:cNvPicPr>
          <p:nvPr/>
        </p:nvPicPr>
        <p:blipFill>
          <a:blip r:embed="rId6"/>
          <a:stretch>
            <a:fillRect/>
          </a:stretch>
        </p:blipFill>
        <p:spPr>
          <a:xfrm>
            <a:off x="494584" y="2660630"/>
            <a:ext cx="5429252" cy="32575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4472" y="419933"/>
            <a:ext cx="10252829" cy="449104"/>
          </a:xfrm>
          <a:prstGeom prst="rect">
            <a:avLst/>
          </a:prstGeom>
          <a:noFill/>
          <a:ln/>
        </p:spPr>
        <p:txBody>
          <a:bodyPr wrap="none" lIns="0" tIns="0" rIns="0" bIns="0" rtlCol="0" anchor="t"/>
          <a:lstStyle/>
          <a:p>
            <a:pPr marL="0" indent="0" algn="l">
              <a:lnSpc>
                <a:spcPts val="3500"/>
              </a:lnSpc>
              <a:buNone/>
            </a:pPr>
            <a:r>
              <a:rPr lang="en-US" sz="2800" dirty="0">
                <a:solidFill>
                  <a:srgbClr val="38512F"/>
                </a:solidFill>
                <a:latin typeface="Lora" pitchFamily="34" charset="0"/>
                <a:ea typeface="Lora" pitchFamily="34" charset="-122"/>
                <a:cs typeface="Lora" pitchFamily="34" charset="-120"/>
              </a:rPr>
              <a:t>Exploratory Data Analysis (EDA) with Advanced Visualizations</a:t>
            </a:r>
            <a:endParaRPr lang="en-US" sz="2800" dirty="0"/>
          </a:p>
        </p:txBody>
      </p:sp>
      <p:sp>
        <p:nvSpPr>
          <p:cNvPr id="4" name="Text 1"/>
          <p:cNvSpPr/>
          <p:nvPr/>
        </p:nvSpPr>
        <p:spPr>
          <a:xfrm>
            <a:off x="534472" y="8940641"/>
            <a:ext cx="13561457" cy="488633"/>
          </a:xfrm>
          <a:prstGeom prst="rect">
            <a:avLst/>
          </a:prstGeom>
          <a:noFill/>
          <a:ln/>
        </p:spPr>
        <p:txBody>
          <a:bodyPr wrap="square" lIns="0" tIns="0" rIns="0" bIns="0" rtlCol="0" anchor="t"/>
          <a:lstStyle/>
          <a:p>
            <a:pPr marL="0" indent="0" algn="l">
              <a:lnSpc>
                <a:spcPts val="1900"/>
              </a:lnSpc>
              <a:buNone/>
            </a:pPr>
            <a:r>
              <a:rPr lang="en-US" sz="1200" dirty="0">
                <a:solidFill>
                  <a:srgbClr val="3A3630"/>
                </a:solidFill>
                <a:latin typeface="Source Sans Pro" pitchFamily="34" charset="0"/>
                <a:ea typeface="Source Sans Pro" pitchFamily="34" charset="-122"/>
                <a:cs typeface="Source Sans Pro" pitchFamily="34" charset="-120"/>
              </a:rPr>
              <a:t>EDA uncovers hidden patterns through diverse visualizations. Summary statistics were computed, and a histogram (cases), scatter plot (cases vs. tests), and density plot (case rates) were generated to examine data characteristics. The histogram for Cases - Weekly is right-skewed, with most weeks showing fewer than 100 cases.</a:t>
            </a:r>
            <a:endParaRPr lang="en-US" sz="1200" dirty="0"/>
          </a:p>
        </p:txBody>
      </p:sp>
      <p:sp>
        <p:nvSpPr>
          <p:cNvPr id="5" name="Rectangle 4">
            <a:extLst>
              <a:ext uri="{FF2B5EF4-FFF2-40B4-BE49-F238E27FC236}">
                <a16:creationId xmlns:a16="http://schemas.microsoft.com/office/drawing/2014/main" id="{A9B9085E-FAB1-09C4-9E92-D437BC693F13}"/>
              </a:ext>
            </a:extLst>
          </p:cNvPr>
          <p:cNvSpPr/>
          <p:nvPr/>
        </p:nvSpPr>
        <p:spPr>
          <a:xfrm>
            <a:off x="12850586" y="7809667"/>
            <a:ext cx="1632857" cy="305633"/>
          </a:xfrm>
          <a:prstGeom prst="rect">
            <a:avLst/>
          </a:prstGeom>
          <a:solidFill>
            <a:srgbClr val="FE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showing a number of blue dots&#10;&#10;AI-generated content may be incorrect.">
            <a:extLst>
              <a:ext uri="{FF2B5EF4-FFF2-40B4-BE49-F238E27FC236}">
                <a16:creationId xmlns:a16="http://schemas.microsoft.com/office/drawing/2014/main" id="{CC7E16E7-C7AA-8D09-DE24-DDE3AB753896}"/>
              </a:ext>
            </a:extLst>
          </p:cNvPr>
          <p:cNvPicPr>
            <a:picLocks noChangeAspect="1"/>
          </p:cNvPicPr>
          <p:nvPr/>
        </p:nvPicPr>
        <p:blipFill>
          <a:blip r:embed="rId3"/>
          <a:stretch>
            <a:fillRect/>
          </a:stretch>
        </p:blipFill>
        <p:spPr>
          <a:xfrm>
            <a:off x="1877786" y="1225987"/>
            <a:ext cx="10972800" cy="6583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9977" y="1105972"/>
            <a:ext cx="7062788" cy="647105"/>
          </a:xfrm>
          <a:prstGeom prst="rect">
            <a:avLst/>
          </a:prstGeom>
          <a:noFill/>
          <a:ln/>
        </p:spPr>
        <p:txBody>
          <a:bodyPr wrap="none" lIns="0" tIns="0" rIns="0" bIns="0" rtlCol="0" anchor="t"/>
          <a:lstStyle/>
          <a:p>
            <a:pPr marL="0" indent="0" algn="l">
              <a:lnSpc>
                <a:spcPts val="5050"/>
              </a:lnSpc>
              <a:buNone/>
            </a:pPr>
            <a:r>
              <a:rPr lang="en-US" sz="4050" dirty="0">
                <a:solidFill>
                  <a:srgbClr val="38512F"/>
                </a:solidFill>
                <a:latin typeface="Lora" pitchFamily="34" charset="0"/>
                <a:ea typeface="Lora" pitchFamily="34" charset="-122"/>
                <a:cs typeface="Lora" pitchFamily="34" charset="-120"/>
              </a:rPr>
              <a:t>Conclusion and Future Scope</a:t>
            </a:r>
            <a:endParaRPr lang="en-US" sz="4050" dirty="0"/>
          </a:p>
        </p:txBody>
      </p:sp>
      <p:sp>
        <p:nvSpPr>
          <p:cNvPr id="4" name="Shape 1"/>
          <p:cNvSpPr/>
          <p:nvPr/>
        </p:nvSpPr>
        <p:spPr>
          <a:xfrm>
            <a:off x="769977" y="2330410"/>
            <a:ext cx="494943" cy="494943"/>
          </a:xfrm>
          <a:prstGeom prst="roundRect">
            <a:avLst>
              <a:gd name="adj" fmla="val 6668"/>
            </a:avLst>
          </a:prstGeom>
          <a:solidFill>
            <a:srgbClr val="F3E7D4"/>
          </a:solidFill>
          <a:ln/>
        </p:spPr>
        <p:txBody>
          <a:bodyPr/>
          <a:lstStyle/>
          <a:p>
            <a:endParaRPr lang="en-US"/>
          </a:p>
        </p:txBody>
      </p:sp>
      <p:sp>
        <p:nvSpPr>
          <p:cNvPr id="5" name="Text 2"/>
          <p:cNvSpPr/>
          <p:nvPr/>
        </p:nvSpPr>
        <p:spPr>
          <a:xfrm>
            <a:off x="1484828" y="2330410"/>
            <a:ext cx="2588538" cy="323493"/>
          </a:xfrm>
          <a:prstGeom prst="rect">
            <a:avLst/>
          </a:prstGeom>
          <a:noFill/>
          <a:ln/>
        </p:spPr>
        <p:txBody>
          <a:bodyPr wrap="none" lIns="0" tIns="0" rIns="0" bIns="0" rtlCol="0" anchor="t"/>
          <a:lstStyle/>
          <a:p>
            <a:pPr marL="0" indent="0" algn="l">
              <a:lnSpc>
                <a:spcPts val="2500"/>
              </a:lnSpc>
              <a:buNone/>
            </a:pPr>
            <a:r>
              <a:rPr lang="en-US" sz="2000" dirty="0">
                <a:solidFill>
                  <a:srgbClr val="3A3630"/>
                </a:solidFill>
                <a:latin typeface="Lora" pitchFamily="34" charset="0"/>
                <a:ea typeface="Lora" pitchFamily="34" charset="-122"/>
                <a:cs typeface="Lora" pitchFamily="34" charset="-120"/>
              </a:rPr>
              <a:t>Key Findings</a:t>
            </a:r>
            <a:endParaRPr lang="en-US" sz="2000" dirty="0"/>
          </a:p>
        </p:txBody>
      </p:sp>
      <p:sp>
        <p:nvSpPr>
          <p:cNvPr id="6" name="Text 3"/>
          <p:cNvSpPr/>
          <p:nvPr/>
        </p:nvSpPr>
        <p:spPr>
          <a:xfrm>
            <a:off x="1484828" y="2785824"/>
            <a:ext cx="6889194" cy="1055846"/>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The analysis provided comprehensive insights into COVID-19 dynamics, including identifying waves, confirming a strong case-death correlation, and highlighting high-severity ZIP codes.</a:t>
            </a:r>
            <a:endParaRPr lang="en-US" sz="1700" dirty="0"/>
          </a:p>
        </p:txBody>
      </p:sp>
      <p:sp>
        <p:nvSpPr>
          <p:cNvPr id="7" name="Shape 4"/>
          <p:cNvSpPr/>
          <p:nvPr/>
        </p:nvSpPr>
        <p:spPr>
          <a:xfrm>
            <a:off x="769977" y="4308991"/>
            <a:ext cx="494943" cy="494943"/>
          </a:xfrm>
          <a:prstGeom prst="roundRect">
            <a:avLst>
              <a:gd name="adj" fmla="val 6668"/>
            </a:avLst>
          </a:prstGeom>
          <a:solidFill>
            <a:srgbClr val="F3E7D4"/>
          </a:solidFill>
          <a:ln/>
        </p:spPr>
        <p:txBody>
          <a:bodyPr/>
          <a:lstStyle/>
          <a:p>
            <a:endParaRPr lang="en-US"/>
          </a:p>
        </p:txBody>
      </p:sp>
      <p:sp>
        <p:nvSpPr>
          <p:cNvPr id="8" name="Text 5"/>
          <p:cNvSpPr/>
          <p:nvPr/>
        </p:nvSpPr>
        <p:spPr>
          <a:xfrm>
            <a:off x="1484828" y="4308991"/>
            <a:ext cx="2588538" cy="323493"/>
          </a:xfrm>
          <a:prstGeom prst="rect">
            <a:avLst/>
          </a:prstGeom>
          <a:noFill/>
          <a:ln/>
        </p:spPr>
        <p:txBody>
          <a:bodyPr wrap="none" lIns="0" tIns="0" rIns="0" bIns="0" rtlCol="0" anchor="t"/>
          <a:lstStyle/>
          <a:p>
            <a:pPr marL="0" indent="0" algn="l">
              <a:lnSpc>
                <a:spcPts val="2500"/>
              </a:lnSpc>
              <a:buNone/>
            </a:pPr>
            <a:r>
              <a:rPr lang="en-US" sz="2000" dirty="0">
                <a:solidFill>
                  <a:srgbClr val="3A3630"/>
                </a:solidFill>
                <a:latin typeface="Lora" pitchFamily="34" charset="0"/>
                <a:ea typeface="Lora" pitchFamily="34" charset="-122"/>
                <a:cs typeface="Lora" pitchFamily="34" charset="-120"/>
              </a:rPr>
              <a:t>Future Directions</a:t>
            </a:r>
            <a:endParaRPr lang="en-US" sz="2000" dirty="0"/>
          </a:p>
        </p:txBody>
      </p:sp>
      <p:sp>
        <p:nvSpPr>
          <p:cNvPr id="9" name="Text 6"/>
          <p:cNvSpPr/>
          <p:nvPr/>
        </p:nvSpPr>
        <p:spPr>
          <a:xfrm>
            <a:off x="1484828" y="4764405"/>
            <a:ext cx="6889194" cy="1055846"/>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Future scope includes advanced modeling, demographic analysis, geospatial mapping, robust outlier handling, real-time analysis, and policy impact assessment.</a:t>
            </a:r>
            <a:endParaRPr lang="en-US" sz="1700" dirty="0"/>
          </a:p>
        </p:txBody>
      </p:sp>
      <p:sp>
        <p:nvSpPr>
          <p:cNvPr id="10" name="Text 7"/>
          <p:cNvSpPr/>
          <p:nvPr/>
        </p:nvSpPr>
        <p:spPr>
          <a:xfrm>
            <a:off x="769977" y="6067663"/>
            <a:ext cx="7604046" cy="1055846"/>
          </a:xfrm>
          <a:prstGeom prst="rect">
            <a:avLst/>
          </a:prstGeom>
          <a:noFill/>
          <a:ln/>
        </p:spPr>
        <p:txBody>
          <a:bodyPr wrap="square" lIns="0" tIns="0" rIns="0" bIns="0" rtlCol="0" anchor="t"/>
          <a:lstStyle/>
          <a:p>
            <a:pPr marL="0" indent="0" algn="l">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The findings underscore the importance of targeted interventions in high-severity areas and robust data validation for outliers. Advanced modeling and integration of live data feeds can enhance ongoing monitoring and predictive capabilities.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2485787"/>
            <a:ext cx="7819549" cy="704017"/>
          </a:xfrm>
          <a:prstGeom prst="rect">
            <a:avLst/>
          </a:prstGeom>
          <a:noFill/>
          <a:ln/>
        </p:spPr>
        <p:txBody>
          <a:bodyPr wrap="non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Enhancements and Inclusions</a:t>
            </a:r>
            <a:endParaRPr lang="en-US" sz="4400" dirty="0"/>
          </a:p>
        </p:txBody>
      </p:sp>
      <p:sp>
        <p:nvSpPr>
          <p:cNvPr id="3" name="Text 1"/>
          <p:cNvSpPr/>
          <p:nvPr/>
        </p:nvSpPr>
        <p:spPr>
          <a:xfrm>
            <a:off x="837724" y="378809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8512F"/>
                </a:solidFill>
                <a:latin typeface="Lora" pitchFamily="34" charset="0"/>
                <a:ea typeface="Lora" pitchFamily="34" charset="-122"/>
                <a:cs typeface="Lora" pitchFamily="34" charset="-120"/>
              </a:rPr>
              <a:t>Advanced Modeling</a:t>
            </a:r>
            <a:endParaRPr lang="en-US" sz="2200" dirty="0"/>
          </a:p>
        </p:txBody>
      </p:sp>
      <p:sp>
        <p:nvSpPr>
          <p:cNvPr id="4" name="Text 2"/>
          <p:cNvSpPr/>
          <p:nvPr/>
        </p:nvSpPr>
        <p:spPr>
          <a:xfrm>
            <a:off x="837724" y="4379357"/>
            <a:ext cx="3928586"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Time series analysis and regression models can forecast trends. Models help predict future cases and deaths.</a:t>
            </a:r>
            <a:endParaRPr lang="en-US" sz="1850" dirty="0"/>
          </a:p>
        </p:txBody>
      </p:sp>
      <p:sp>
        <p:nvSpPr>
          <p:cNvPr id="5" name="Text 3"/>
          <p:cNvSpPr/>
          <p:nvPr/>
        </p:nvSpPr>
        <p:spPr>
          <a:xfrm>
            <a:off x="5357813" y="3788093"/>
            <a:ext cx="2894648" cy="351949"/>
          </a:xfrm>
          <a:prstGeom prst="rect">
            <a:avLst/>
          </a:prstGeom>
          <a:noFill/>
          <a:ln/>
        </p:spPr>
        <p:txBody>
          <a:bodyPr wrap="none" lIns="0" tIns="0" rIns="0" bIns="0" rtlCol="0" anchor="t"/>
          <a:lstStyle/>
          <a:p>
            <a:pPr marL="0" indent="0" algn="l">
              <a:lnSpc>
                <a:spcPts val="2750"/>
              </a:lnSpc>
              <a:buNone/>
            </a:pPr>
            <a:r>
              <a:rPr lang="en-US" sz="2200" dirty="0">
                <a:solidFill>
                  <a:srgbClr val="38512F"/>
                </a:solidFill>
                <a:latin typeface="Lora" pitchFamily="34" charset="0"/>
                <a:ea typeface="Lora" pitchFamily="34" charset="-122"/>
                <a:cs typeface="Lora" pitchFamily="34" charset="-120"/>
              </a:rPr>
              <a:t>Demographic Analysis</a:t>
            </a:r>
            <a:endParaRPr lang="en-US" sz="2200" dirty="0"/>
          </a:p>
        </p:txBody>
      </p:sp>
      <p:sp>
        <p:nvSpPr>
          <p:cNvPr id="6" name="Text 4"/>
          <p:cNvSpPr/>
          <p:nvPr/>
        </p:nvSpPr>
        <p:spPr>
          <a:xfrm>
            <a:off x="5357813" y="4379357"/>
            <a:ext cx="3928586"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Integrating demographic data enhances insights. Factors include age, income, and race/ethnicity.</a:t>
            </a:r>
            <a:endParaRPr lang="en-US" sz="1850" dirty="0"/>
          </a:p>
        </p:txBody>
      </p:sp>
      <p:sp>
        <p:nvSpPr>
          <p:cNvPr id="7" name="Text 5"/>
          <p:cNvSpPr/>
          <p:nvPr/>
        </p:nvSpPr>
        <p:spPr>
          <a:xfrm>
            <a:off x="9877901" y="378809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8512F"/>
                </a:solidFill>
                <a:latin typeface="Lora" pitchFamily="34" charset="0"/>
                <a:ea typeface="Lora" pitchFamily="34" charset="-122"/>
                <a:cs typeface="Lora" pitchFamily="34" charset="-120"/>
              </a:rPr>
              <a:t>Geospatial Mapping</a:t>
            </a:r>
            <a:endParaRPr lang="en-US" sz="2200" dirty="0"/>
          </a:p>
        </p:txBody>
      </p:sp>
      <p:sp>
        <p:nvSpPr>
          <p:cNvPr id="8" name="Text 6"/>
          <p:cNvSpPr/>
          <p:nvPr/>
        </p:nvSpPr>
        <p:spPr>
          <a:xfrm>
            <a:off x="9877901" y="4379357"/>
            <a:ext cx="3928586"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Mapping with tools like GIS identifies spatial clusters. It helps visualize geographic patterns.</a:t>
            </a:r>
            <a:endParaRPr lang="en-US" sz="1850" dirty="0"/>
          </a:p>
        </p:txBody>
      </p:sp>
      <p:sp>
        <p:nvSpPr>
          <p:cNvPr id="9" name="Rectangle 8">
            <a:extLst>
              <a:ext uri="{FF2B5EF4-FFF2-40B4-BE49-F238E27FC236}">
                <a16:creationId xmlns:a16="http://schemas.microsoft.com/office/drawing/2014/main" id="{51B95FBF-3E12-1619-1ACC-27B0F2D1A787}"/>
              </a:ext>
            </a:extLst>
          </p:cNvPr>
          <p:cNvSpPr/>
          <p:nvPr/>
        </p:nvSpPr>
        <p:spPr>
          <a:xfrm>
            <a:off x="12850586" y="7809667"/>
            <a:ext cx="1632857" cy="305633"/>
          </a:xfrm>
          <a:prstGeom prst="rect">
            <a:avLst/>
          </a:prstGeom>
          <a:solidFill>
            <a:srgbClr val="FE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472089"/>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Thank You</a:t>
            </a:r>
            <a:endParaRPr lang="en-US" sz="4400" dirty="0"/>
          </a:p>
        </p:txBody>
      </p:sp>
      <p:sp>
        <p:nvSpPr>
          <p:cNvPr id="4" name="Text 1"/>
          <p:cNvSpPr/>
          <p:nvPr/>
        </p:nvSpPr>
        <p:spPr>
          <a:xfrm>
            <a:off x="837724" y="2535079"/>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Thank you for your time and attention.</a:t>
            </a:r>
            <a:endParaRPr lang="en-US" sz="1850" dirty="0"/>
          </a:p>
        </p:txBody>
      </p:sp>
      <p:sp>
        <p:nvSpPr>
          <p:cNvPr id="5" name="Text 2"/>
          <p:cNvSpPr/>
          <p:nvPr/>
        </p:nvSpPr>
        <p:spPr>
          <a:xfrm>
            <a:off x="837724" y="3187303"/>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We hope this analysis provides useful insights.</a:t>
            </a:r>
            <a:endParaRPr lang="en-US" sz="1850" dirty="0"/>
          </a:p>
        </p:txBody>
      </p:sp>
      <p:sp>
        <p:nvSpPr>
          <p:cNvPr id="6" name="Shape 3"/>
          <p:cNvSpPr/>
          <p:nvPr/>
        </p:nvSpPr>
        <p:spPr>
          <a:xfrm>
            <a:off x="837724" y="4108728"/>
            <a:ext cx="538520" cy="538520"/>
          </a:xfrm>
          <a:prstGeom prst="roundRect">
            <a:avLst>
              <a:gd name="adj" fmla="val 6668"/>
            </a:avLst>
          </a:prstGeom>
          <a:solidFill>
            <a:srgbClr val="F3E7D4"/>
          </a:solidFill>
          <a:ln/>
        </p:spPr>
        <p:txBody>
          <a:bodyPr/>
          <a:lstStyle/>
          <a:p>
            <a:endParaRPr lang="en-US"/>
          </a:p>
        </p:txBody>
      </p:sp>
      <p:sp>
        <p:nvSpPr>
          <p:cNvPr id="7" name="Text 4"/>
          <p:cNvSpPr/>
          <p:nvPr/>
        </p:nvSpPr>
        <p:spPr>
          <a:xfrm>
            <a:off x="937974" y="4166711"/>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3A3630"/>
                </a:solidFill>
                <a:latin typeface="Lora" pitchFamily="34" charset="0"/>
                <a:ea typeface="Lora" pitchFamily="34" charset="-122"/>
                <a:cs typeface="Lora" pitchFamily="34" charset="-120"/>
              </a:rPr>
              <a:t>1</a:t>
            </a:r>
            <a:endParaRPr lang="en-US" sz="2650" dirty="0"/>
          </a:p>
        </p:txBody>
      </p:sp>
      <p:sp>
        <p:nvSpPr>
          <p:cNvPr id="8" name="Text 5"/>
          <p:cNvSpPr/>
          <p:nvPr/>
        </p:nvSpPr>
        <p:spPr>
          <a:xfrm>
            <a:off x="1615559" y="410872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Insights</a:t>
            </a:r>
            <a:endParaRPr lang="en-US" sz="2200" dirty="0"/>
          </a:p>
        </p:txBody>
      </p:sp>
      <p:sp>
        <p:nvSpPr>
          <p:cNvPr id="9" name="Text 6"/>
          <p:cNvSpPr/>
          <p:nvPr/>
        </p:nvSpPr>
        <p:spPr>
          <a:xfrm>
            <a:off x="1615559" y="4604266"/>
            <a:ext cx="2836783" cy="76604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Comprehensive analysis of COVID-19 trends.</a:t>
            </a:r>
            <a:endParaRPr lang="en-US" sz="1850" dirty="0"/>
          </a:p>
        </p:txBody>
      </p:sp>
      <p:sp>
        <p:nvSpPr>
          <p:cNvPr id="10" name="Shape 7"/>
          <p:cNvSpPr/>
          <p:nvPr/>
        </p:nvSpPr>
        <p:spPr>
          <a:xfrm>
            <a:off x="4691658" y="4108728"/>
            <a:ext cx="538520" cy="538520"/>
          </a:xfrm>
          <a:prstGeom prst="roundRect">
            <a:avLst>
              <a:gd name="adj" fmla="val 6668"/>
            </a:avLst>
          </a:prstGeom>
          <a:solidFill>
            <a:srgbClr val="F3E7D4"/>
          </a:solidFill>
          <a:ln/>
        </p:spPr>
        <p:txBody>
          <a:bodyPr/>
          <a:lstStyle/>
          <a:p>
            <a:endParaRPr lang="en-US"/>
          </a:p>
        </p:txBody>
      </p:sp>
      <p:sp>
        <p:nvSpPr>
          <p:cNvPr id="11" name="Text 8"/>
          <p:cNvSpPr/>
          <p:nvPr/>
        </p:nvSpPr>
        <p:spPr>
          <a:xfrm>
            <a:off x="4791908" y="4166711"/>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3A3630"/>
                </a:solidFill>
                <a:latin typeface="Lora" pitchFamily="34" charset="0"/>
                <a:ea typeface="Lora" pitchFamily="34" charset="-122"/>
                <a:cs typeface="Lora" pitchFamily="34" charset="-120"/>
              </a:rPr>
              <a:t>2</a:t>
            </a:r>
            <a:endParaRPr lang="en-US" sz="2650" dirty="0"/>
          </a:p>
        </p:txBody>
      </p:sp>
      <p:sp>
        <p:nvSpPr>
          <p:cNvPr id="12" name="Text 9"/>
          <p:cNvSpPr/>
          <p:nvPr/>
        </p:nvSpPr>
        <p:spPr>
          <a:xfrm>
            <a:off x="5469493" y="410872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Findings</a:t>
            </a:r>
            <a:endParaRPr lang="en-US" sz="2200" dirty="0"/>
          </a:p>
        </p:txBody>
      </p:sp>
      <p:sp>
        <p:nvSpPr>
          <p:cNvPr id="13" name="Text 10"/>
          <p:cNvSpPr/>
          <p:nvPr/>
        </p:nvSpPr>
        <p:spPr>
          <a:xfrm>
            <a:off x="5469493" y="4604266"/>
            <a:ext cx="2836783" cy="76604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Key patterns and insights on case severity.</a:t>
            </a:r>
            <a:endParaRPr lang="en-US" sz="1850" dirty="0"/>
          </a:p>
        </p:txBody>
      </p:sp>
      <p:sp>
        <p:nvSpPr>
          <p:cNvPr id="14" name="Shape 11"/>
          <p:cNvSpPr/>
          <p:nvPr/>
        </p:nvSpPr>
        <p:spPr>
          <a:xfrm>
            <a:off x="837724" y="5878830"/>
            <a:ext cx="538520" cy="538520"/>
          </a:xfrm>
          <a:prstGeom prst="roundRect">
            <a:avLst>
              <a:gd name="adj" fmla="val 6668"/>
            </a:avLst>
          </a:prstGeom>
          <a:solidFill>
            <a:srgbClr val="F3E7D4"/>
          </a:solidFill>
          <a:ln/>
        </p:spPr>
        <p:txBody>
          <a:bodyPr/>
          <a:lstStyle/>
          <a:p>
            <a:endParaRPr lang="en-US"/>
          </a:p>
        </p:txBody>
      </p:sp>
      <p:sp>
        <p:nvSpPr>
          <p:cNvPr id="15" name="Text 12"/>
          <p:cNvSpPr/>
          <p:nvPr/>
        </p:nvSpPr>
        <p:spPr>
          <a:xfrm>
            <a:off x="937974" y="5936813"/>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3A3630"/>
                </a:solidFill>
                <a:latin typeface="Lora" pitchFamily="34" charset="0"/>
                <a:ea typeface="Lora" pitchFamily="34" charset="-122"/>
                <a:cs typeface="Lora" pitchFamily="34" charset="-120"/>
              </a:rPr>
              <a:t>3</a:t>
            </a:r>
            <a:endParaRPr lang="en-US" sz="2650" dirty="0"/>
          </a:p>
        </p:txBody>
      </p:sp>
      <p:sp>
        <p:nvSpPr>
          <p:cNvPr id="16" name="Text 13"/>
          <p:cNvSpPr/>
          <p:nvPr/>
        </p:nvSpPr>
        <p:spPr>
          <a:xfrm>
            <a:off x="1615559" y="587883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Predictions</a:t>
            </a:r>
            <a:endParaRPr lang="en-US" sz="2200" dirty="0"/>
          </a:p>
        </p:txBody>
      </p:sp>
      <p:sp>
        <p:nvSpPr>
          <p:cNvPr id="17" name="Text 14"/>
          <p:cNvSpPr/>
          <p:nvPr/>
        </p:nvSpPr>
        <p:spPr>
          <a:xfrm>
            <a:off x="1615559" y="6374368"/>
            <a:ext cx="6690717"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Advanced modeling can help predict future outbreaks.</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802</Words>
  <Application>Microsoft Macintosh PowerPoint</Application>
  <PresentationFormat>Custom</PresentationFormat>
  <Paragraphs>76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Lora</vt:lpstr>
      <vt:lpstr>Source Sans Pro</vt:lpstr>
      <vt:lpstr>Source Sans Pro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Garg</cp:lastModifiedBy>
  <cp:revision>2</cp:revision>
  <dcterms:created xsi:type="dcterms:W3CDTF">2025-04-12T11:30:52Z</dcterms:created>
  <dcterms:modified xsi:type="dcterms:W3CDTF">2025-04-12T11:37:51Z</dcterms:modified>
</cp:coreProperties>
</file>